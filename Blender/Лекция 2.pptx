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10" r:id="rId3"/>
    <p:sldId id="264" r:id="rId4"/>
    <p:sldId id="294" r:id="rId5"/>
    <p:sldId id="287" r:id="rId6"/>
    <p:sldId id="298" r:id="rId7"/>
    <p:sldId id="296" r:id="rId8"/>
    <p:sldId id="295" r:id="rId9"/>
    <p:sldId id="289" r:id="rId10"/>
    <p:sldId id="259" r:id="rId11"/>
    <p:sldId id="290" r:id="rId12"/>
    <p:sldId id="291" r:id="rId13"/>
    <p:sldId id="292" r:id="rId14"/>
    <p:sldId id="299" r:id="rId15"/>
    <p:sldId id="270" r:id="rId16"/>
    <p:sldId id="293" r:id="rId17"/>
    <p:sldId id="297" r:id="rId18"/>
    <p:sldId id="300" r:id="rId19"/>
    <p:sldId id="301" r:id="rId20"/>
    <p:sldId id="268" r:id="rId21"/>
    <p:sldId id="283" r:id="rId22"/>
    <p:sldId id="285" r:id="rId23"/>
    <p:sldId id="281" r:id="rId24"/>
    <p:sldId id="305" r:id="rId25"/>
    <p:sldId id="307" r:id="rId26"/>
    <p:sldId id="308" r:id="rId27"/>
    <p:sldId id="309" r:id="rId28"/>
    <p:sldId id="265" r:id="rId29"/>
    <p:sldId id="302" r:id="rId30"/>
    <p:sldId id="303" r:id="rId31"/>
    <p:sldId id="311" r:id="rId32"/>
    <p:sldId id="304" r:id="rId33"/>
    <p:sldId id="312" r:id="rId34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91" autoAdjust="0"/>
    <p:restoredTop sz="69680" autoAdjust="0"/>
  </p:normalViewPr>
  <p:slideViewPr>
    <p:cSldViewPr showGuides="1">
      <p:cViewPr varScale="1">
        <p:scale>
          <a:sx n="102" d="100"/>
          <a:sy n="102" d="100"/>
        </p:scale>
        <p:origin x="-1800" y="-90"/>
      </p:cViewPr>
      <p:guideLst>
        <p:guide orient="horz" pos="3072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BD9A5-19A8-4237-AB6E-C6265AEE460D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C7852-750C-4518-8BFE-EF078C52E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138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95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Визуальное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мышление – это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Зрительное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мышление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визуа́льное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мышле́ние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(от лат.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зрительный) — разновидность образного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мышления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объектом которого выступает образ в его зрительном аспекте. 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107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что обращаем внимание (форма, пропорции, стилизация…)</a:t>
            </a:r>
          </a:p>
          <a:p>
            <a:pPr lvl="1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упрощение формы, анализ формы, видим в сложном простое</a:t>
            </a:r>
          </a:p>
          <a:p>
            <a:r>
              <a:rPr lang="ru-RU" dirty="0" smtClean="0"/>
              <a:t>Учимся видеть простые формы в сложных, так как </a:t>
            </a:r>
            <a:r>
              <a:rPr lang="ru-RU" dirty="0" err="1" smtClean="0"/>
              <a:t>моделим</a:t>
            </a:r>
            <a:r>
              <a:rPr lang="ru-RU" dirty="0" smtClean="0"/>
              <a:t> от</a:t>
            </a:r>
            <a:r>
              <a:rPr lang="ru-RU" baseline="0" dirty="0" smtClean="0"/>
              <a:t> простого, от общего к частному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107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Реализм и стилизация</a:t>
            </a:r>
          </a:p>
          <a:p>
            <a:pPr lvl="1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такое стилизация? Что принимаем за реализм?</a:t>
            </a:r>
          </a:p>
          <a:p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Стилизация 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это изменение изображаемого предмета для создания определённого, нужного автору эстетического эффекта. (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яндекс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нарочито подчеркнутая имитация оригинальных особенностей определенного стиля или особенностей языка определенной социальной среды, исторической эпохи в художественном произведении.</a:t>
            </a:r>
          </a:p>
          <a:p>
            <a:endParaRPr lang="ru-RU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Реализм —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направление в литературе и искусстве, ставящее целью правдивое воспроизведение действительности в её типических 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чертах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«Семи-реализм»</a:t>
            </a:r>
          </a:p>
          <a:p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рисование какого-либо объекта с соблюдением его истинного вида, с соблюдением пропорций, светотени, тона, цвета и других характеристик.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Стилизация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рисование объекта с изменением его внешнего вида и характеристик, но так, чтобы он оставался узнаваемым зрителем. Обычно меняются пропорции объекта, стиль изображения светотени и другие характеристики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957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400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 знать: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ключевая разница между игровыми жанрами графики заключается лишь в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сложности форм (детализация и пропорции)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текстур. Это основа, которая предопределяет разнообразие жанров и помогает им в значительной мере отличаться друг от друга.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095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Пропорция — это соотношение между двумя или более величинами, которые связаны друг с другом определённым образом</a:t>
            </a:r>
          </a:p>
          <a:p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Пропорции в рисунке — это соотношение размеров (соразмерность) каждой из отдельных частей рисунка к целому и соразмерность частей рисунка между собой.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956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368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788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708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Думаем</a:t>
            </a:r>
            <a:r>
              <a:rPr lang="ru-RU" baseline="0" dirty="0" smtClean="0"/>
              <a:t> про удобные расстояния, про логику использования помещения и объектов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647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Могут понадобиться</a:t>
            </a:r>
            <a:r>
              <a:rPr lang="ru-RU" baseline="0" dirty="0" smtClean="0"/>
              <a:t> чертежи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601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486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Ручки дверей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192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Высоты потолков</a:t>
            </a:r>
            <a:r>
              <a:rPr lang="ru-RU" baseline="0" dirty="0" smtClean="0"/>
              <a:t> и проемов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9454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важно знать для интерьера</a:t>
            </a:r>
          </a:p>
          <a:p>
            <a:pPr lvl="2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Высоты потолков и проемов</a:t>
            </a:r>
          </a:p>
          <a:p>
            <a:pPr lvl="2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Пропорции стола (высоты, толщины)</a:t>
            </a:r>
          </a:p>
          <a:p>
            <a:pPr lvl="2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Кресла и диваны (высоты подлокотников, спинки,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сидушки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lvl="2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Расстояния между объектами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870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Рассматриваем</a:t>
            </a:r>
            <a:r>
              <a:rPr lang="ru-RU" baseline="0" dirty="0" smtClean="0"/>
              <a:t> примеры стульев относительно пропорций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https://sketchfab.com/3d-models/owl-furniture-5799f3df37d54959b3d2fec0614336b3</a:t>
            </a:r>
            <a:r>
              <a:rPr lang="en-US" baseline="0" dirty="0" smtClean="0"/>
              <a:t> </a:t>
            </a:r>
            <a:r>
              <a:rPr lang="ru-RU" baseline="0" dirty="0" smtClean="0"/>
              <a:t>стул</a:t>
            </a:r>
          </a:p>
          <a:p>
            <a:r>
              <a:rPr lang="en-US" dirty="0" smtClean="0"/>
              <a:t>https://sketchfab.com/3d-models/vintage-furniture-pack-kitbash-parts-64cfc577db9c48ad8aa1b7f3c17897f7</a:t>
            </a:r>
            <a:endParaRPr lang="ru-RU" dirty="0" smtClean="0"/>
          </a:p>
          <a:p>
            <a:r>
              <a:rPr lang="en-US" dirty="0" smtClean="0"/>
              <a:t>https://sketchfab.com/3d-models/vr-loft-living-room-baked-f3e6f16527af4465858a34cc1e9e7a2b</a:t>
            </a:r>
            <a:endParaRPr lang="ru-RU" dirty="0" smtClean="0"/>
          </a:p>
          <a:p>
            <a:r>
              <a:rPr lang="en-US" dirty="0" smtClean="0"/>
              <a:t>https://sketchfab.com/3d-models/furniture-20bf0fa0623d437499bcba72febd9e23</a:t>
            </a:r>
            <a:endParaRPr lang="ru-RU" dirty="0" smtClean="0"/>
          </a:p>
          <a:p>
            <a:r>
              <a:rPr lang="en-US" dirty="0" smtClean="0"/>
              <a:t>https://sketchfab.com/3d-models/medieval-furniture-505dfef9a6554f7195113740db0fe806</a:t>
            </a:r>
            <a:endParaRPr lang="ru-RU" dirty="0" smtClean="0"/>
          </a:p>
          <a:p>
            <a:r>
              <a:rPr lang="en-US" dirty="0" smtClean="0"/>
              <a:t>https://sketchfab.com/3d-models/nordic-living-room-with-vray-lighting-b9f6dc4ace8f4edc8e136cb5ec33cc97</a:t>
            </a:r>
            <a:endParaRPr lang="ru-RU" dirty="0" smtClean="0"/>
          </a:p>
          <a:p>
            <a:r>
              <a:rPr lang="en-US" dirty="0" smtClean="0"/>
              <a:t>https://sketchfab.com/3d-models/modern-high-rise-apartment-vr-scaled-1e029667b50a4022aedd63e22b7d2f62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443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304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https://sketchfab.com/3d-models/owl-furniture-5799f3df37d54959b3d2fec0614336b3</a:t>
            </a:r>
            <a:r>
              <a:rPr lang="en-US" baseline="0" dirty="0" smtClean="0"/>
              <a:t> </a:t>
            </a:r>
            <a:r>
              <a:rPr lang="ru-RU" baseline="0" dirty="0" smtClean="0"/>
              <a:t>стул</a:t>
            </a:r>
          </a:p>
          <a:p>
            <a:r>
              <a:rPr lang="en-US" dirty="0" smtClean="0"/>
              <a:t>https://sketchfab.com/3d-models/vintage-furniture-pack-kitbash-parts-64cfc577db9c48ad8aa1b7f3c17897f7</a:t>
            </a:r>
            <a:endParaRPr lang="ru-RU" dirty="0" smtClean="0"/>
          </a:p>
          <a:p>
            <a:r>
              <a:rPr lang="en-US" dirty="0" smtClean="0"/>
              <a:t>https://sketchfab.com/3d-models/vr-loft-living-room-baked-f3e6f16527af4465858a34cc1e9e7a2b</a:t>
            </a:r>
            <a:endParaRPr lang="ru-RU" dirty="0" smtClean="0"/>
          </a:p>
          <a:p>
            <a:r>
              <a:rPr lang="en-US" dirty="0" smtClean="0"/>
              <a:t>https://sketchfab.com/3d-models/furniture-20bf0fa0623d437499bcba72febd9e23</a:t>
            </a:r>
            <a:endParaRPr lang="ru-RU" dirty="0" smtClean="0"/>
          </a:p>
          <a:p>
            <a:r>
              <a:rPr lang="en-US" dirty="0" smtClean="0"/>
              <a:t>https://sketchfab.com/3d-models/medieval-furniture-505dfef9a6554f7195113740db0fe806</a:t>
            </a:r>
            <a:endParaRPr lang="ru-RU" dirty="0" smtClean="0"/>
          </a:p>
          <a:p>
            <a:r>
              <a:rPr lang="en-US" dirty="0" smtClean="0"/>
              <a:t>https://sketchfab.com/3d-models/nordic-living-room-with-vray-lighting-b9f6dc4ace8f4edc8e136cb5ec33cc97</a:t>
            </a:r>
            <a:endParaRPr lang="ru-RU" dirty="0" smtClean="0"/>
          </a:p>
          <a:p>
            <a:r>
              <a:rPr lang="en-US" dirty="0" smtClean="0"/>
              <a:t>https://sketchfab.com/3d-models/modern-high-rise-apartment-vr-scaled-1e029667b50a4022aedd63e22b7d2f62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4435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https://sketchfab.com/3d-models/owl-furniture-5799f3df37d54959b3d2fec0614336b3</a:t>
            </a:r>
            <a:r>
              <a:rPr lang="en-US" baseline="0" dirty="0" smtClean="0"/>
              <a:t> </a:t>
            </a:r>
            <a:r>
              <a:rPr lang="ru-RU" baseline="0" dirty="0" smtClean="0"/>
              <a:t>стул</a:t>
            </a:r>
          </a:p>
          <a:p>
            <a:r>
              <a:rPr lang="en-US" dirty="0" smtClean="0"/>
              <a:t>https://sketchfab.com/3d-models/vintage-furniture-pack-kitbash-parts-64cfc577db9c48ad8aa1b7f3c17897f7</a:t>
            </a:r>
            <a:endParaRPr lang="ru-RU" dirty="0" smtClean="0"/>
          </a:p>
          <a:p>
            <a:r>
              <a:rPr lang="en-US" dirty="0" smtClean="0"/>
              <a:t>https://sketchfab.com/3d-models/vr-loft-living-room-baked-f3e6f16527af4465858a34cc1e9e7a2b</a:t>
            </a:r>
            <a:endParaRPr lang="ru-RU" dirty="0" smtClean="0"/>
          </a:p>
          <a:p>
            <a:r>
              <a:rPr lang="en-US" dirty="0" smtClean="0"/>
              <a:t>https://sketchfab.com/3d-models/furniture-20bf0fa0623d437499bcba72febd9e23</a:t>
            </a:r>
            <a:endParaRPr lang="ru-RU" dirty="0" smtClean="0"/>
          </a:p>
          <a:p>
            <a:r>
              <a:rPr lang="en-US" dirty="0" smtClean="0"/>
              <a:t>https://sketchfab.com/3d-models/medieval-furniture-505dfef9a6554f7195113740db0fe806</a:t>
            </a:r>
            <a:endParaRPr lang="ru-RU" dirty="0" smtClean="0"/>
          </a:p>
          <a:p>
            <a:r>
              <a:rPr lang="en-US" dirty="0" smtClean="0"/>
              <a:t>https://sketchfab.com/3d-models/nordic-living-room-with-vray-lighting-b9f6dc4ace8f4edc8e136cb5ec33cc97</a:t>
            </a:r>
            <a:endParaRPr lang="ru-RU" dirty="0" smtClean="0"/>
          </a:p>
          <a:p>
            <a:r>
              <a:rPr lang="en-US" dirty="0" smtClean="0"/>
              <a:t>https://sketchfab.com/3d-models/modern-high-rise-apartment-vr-scaled-1e029667b50a4022aedd63e22b7d2f62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4435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https://sketchfab.com/3d-models/owl-furniture-5799f3df37d54959b3d2fec0614336b3</a:t>
            </a:r>
            <a:r>
              <a:rPr lang="en-US" baseline="0" dirty="0" smtClean="0"/>
              <a:t> </a:t>
            </a:r>
            <a:r>
              <a:rPr lang="ru-RU" baseline="0" dirty="0" smtClean="0"/>
              <a:t>стул</a:t>
            </a:r>
          </a:p>
          <a:p>
            <a:r>
              <a:rPr lang="en-US" dirty="0" smtClean="0"/>
              <a:t>https://sketchfab.com/3d-models/vintage-furniture-pack-kitbash-parts-64cfc577db9c48ad8aa1b7f3c17897f7</a:t>
            </a:r>
            <a:endParaRPr lang="ru-RU" dirty="0" smtClean="0"/>
          </a:p>
          <a:p>
            <a:r>
              <a:rPr lang="en-US" dirty="0" smtClean="0"/>
              <a:t>https://sketchfab.com/3d-models/vr-loft-living-room-baked-f3e6f16527af4465858a34cc1e9e7a2b</a:t>
            </a:r>
            <a:endParaRPr lang="ru-RU" dirty="0" smtClean="0"/>
          </a:p>
          <a:p>
            <a:r>
              <a:rPr lang="en-US" dirty="0" smtClean="0"/>
              <a:t>https://sketchfab.com/3d-models/furniture-20bf0fa0623d437499bcba72febd9e23</a:t>
            </a:r>
            <a:endParaRPr lang="ru-RU" dirty="0" smtClean="0"/>
          </a:p>
          <a:p>
            <a:r>
              <a:rPr lang="en-US" dirty="0" smtClean="0"/>
              <a:t>https://sketchfab.com/3d-models/medieval-furniture-505dfef9a6554f7195113740db0fe806</a:t>
            </a:r>
            <a:endParaRPr lang="ru-RU" dirty="0" smtClean="0"/>
          </a:p>
          <a:p>
            <a:r>
              <a:rPr lang="en-US" dirty="0" smtClean="0"/>
              <a:t>https://sketchfab.com/3d-models/nordic-living-room-with-vray-lighting-b9f6dc4ace8f4edc8e136cb5ec33cc97</a:t>
            </a:r>
            <a:endParaRPr lang="ru-RU" dirty="0" smtClean="0"/>
          </a:p>
          <a:p>
            <a:r>
              <a:rPr lang="en-US" dirty="0" smtClean="0"/>
              <a:t>https://sketchfab.com/3d-models/modern-high-rise-apartment-vr-scaled-1e029667b50a4022aedd63e22b7d2f62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4435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https://sketchfab.com/3d-models/owl-furniture-5799f3df37d54959b3d2fec0614336b3</a:t>
            </a:r>
            <a:r>
              <a:rPr lang="en-US" baseline="0" dirty="0" smtClean="0"/>
              <a:t> </a:t>
            </a:r>
            <a:r>
              <a:rPr lang="ru-RU" baseline="0" dirty="0" smtClean="0"/>
              <a:t>стул</a:t>
            </a:r>
          </a:p>
          <a:p>
            <a:r>
              <a:rPr lang="en-US" dirty="0" smtClean="0"/>
              <a:t>https://sketchfab.com/3d-models/vintage-furniture-pack-kitbash-parts-64cfc577db9c48ad8aa1b7f3c17897f7</a:t>
            </a:r>
            <a:endParaRPr lang="ru-RU" dirty="0" smtClean="0"/>
          </a:p>
          <a:p>
            <a:r>
              <a:rPr lang="en-US" dirty="0" smtClean="0"/>
              <a:t>https://sketchfab.com/3d-models/vr-loft-living-room-baked-f3e6f16527af4465858a34cc1e9e7a2b</a:t>
            </a:r>
            <a:endParaRPr lang="ru-RU" dirty="0" smtClean="0"/>
          </a:p>
          <a:p>
            <a:r>
              <a:rPr lang="en-US" dirty="0" smtClean="0"/>
              <a:t>https://sketchfab.com/3d-models/furniture-20bf0fa0623d437499bcba72febd9e23</a:t>
            </a:r>
            <a:endParaRPr lang="ru-RU" dirty="0" smtClean="0"/>
          </a:p>
          <a:p>
            <a:r>
              <a:rPr lang="en-US" dirty="0" smtClean="0"/>
              <a:t>https://sketchfab.com/3d-models/medieval-furniture-505dfef9a6554f7195113740db0fe806</a:t>
            </a:r>
            <a:endParaRPr lang="ru-RU" dirty="0" smtClean="0"/>
          </a:p>
          <a:p>
            <a:r>
              <a:rPr lang="en-US" dirty="0" smtClean="0"/>
              <a:t>https://sketchfab.com/3d-models/nordic-living-room-with-vray-lighting-b9f6dc4ace8f4edc8e136cb5ec33cc97</a:t>
            </a:r>
            <a:endParaRPr lang="ru-RU" dirty="0" smtClean="0"/>
          </a:p>
          <a:p>
            <a:r>
              <a:rPr lang="en-US" dirty="0" smtClean="0"/>
              <a:t>https://sketchfab.com/3d-models/modern-high-rise-apartment-vr-scaled-1e029667b50a4022aedd63e22b7d2f62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443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нам нужно, почему важно? -&gt; чтобы понять/прикинуть пропорции и расположение. В перспективе - продумать взаимодействие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9078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473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580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BC7852-750C-4518-8BFE-EF078C52E7A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953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59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86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409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94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12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57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50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6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302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008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52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8AA57-01C6-48EE-9AC2-15E7B5396238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13E3E-1670-4494-8940-2309181B33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12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@rocketbrush-realizm-i-stilizaciya-sravnenie-tehni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bel.ru/articles/razmer-divana-kakimi-oni-byvayut-i-kak-podobrat-podkhodyashchiy-feb22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zen.ru/a/YRkub5DH4geKomGr" TargetMode="External"/><Relationship Id="rId5" Type="http://schemas.openxmlformats.org/officeDocument/2006/relationships/hyperlink" Target="https://www.mrdoors.ru/blog_new/vybor_razmerov_divana_standartnye_i_nestandartnye_resheniya_/" TargetMode="External"/><Relationship Id="rId4" Type="http://schemas.openxmlformats.org/officeDocument/2006/relationships/hyperlink" Target="https://mebel.ru/articles/vidy-stolov-feb22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fab.com/3d-models/owl-furniture-5799f3df37d54959b3d2fec0614336b3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hyperlink" Target="https://sketchfab.com/3d-models/medieval-furniture-505dfef9a6554f7195113740db0fe806" TargetMode="Externa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fab.com/3d-models/low-poly-rooms-interiors-4-9d6332720c614e8eb8ba4087c0337d72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fab.com/3d-models/vintage-furniture-pack-kitbash-parts-64cfc577db9c48ad8aa1b7f3c17897f7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hyperlink" Target="https://sketchfab.com/3d-models/furniture-20bf0fa0623d437499bcba72febd9e23" TargetMode="Externa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fab.com/3d-models/modern-high-rise-apartment-vr-scaled-1e029667b50a4022aedd63e22b7d2f62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fab.com/3d-models/vr-loft-living-room-baked-f3e6f16527af4465858a34cc1e9e7a2b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fab.com/3d-models/nordic-living-room-with-vray-lighting-b9f6dc4ace8f4edc8e136cb5ec33cc97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hool-xyz.com/blog/kak_delayutsya_modeli_dlya_aaa_igr_polnyj_gajd_po_aaa_pajplajnu?_ym_debug=1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79513"/>
            <a:ext cx="7772400" cy="110251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Полигональное моделирование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553444"/>
            <a:ext cx="6400800" cy="131445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Лекция 2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3667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2332"/>
            <a:ext cx="8229600" cy="857250"/>
          </a:xfrm>
        </p:spPr>
        <p:txBody>
          <a:bodyPr/>
          <a:lstStyle/>
          <a:p>
            <a:pPr algn="l"/>
            <a:r>
              <a:rPr lang="ru-RU" sz="3200" dirty="0" smtClean="0"/>
              <a:t>В предыдущих сериях: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394472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 err="1" smtClean="0"/>
              <a:t>Пайплайн</a:t>
            </a:r>
            <a:r>
              <a:rPr lang="ru-RU" sz="2000" dirty="0" smtClean="0"/>
              <a:t>:</a:t>
            </a:r>
            <a:endParaRPr lang="ru-RU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000" dirty="0" err="1" smtClean="0"/>
              <a:t>Драфт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Highpoly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Lowpoly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UV </a:t>
            </a:r>
            <a:r>
              <a:rPr lang="ru-RU" sz="2000" dirty="0" smtClean="0"/>
              <a:t>и </a:t>
            </a:r>
            <a:r>
              <a:rPr lang="ru-RU" sz="2000" dirty="0" err="1" smtClean="0"/>
              <a:t>текстурирование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Rig </a:t>
            </a:r>
            <a:r>
              <a:rPr lang="ru-RU" sz="2000" dirty="0" smtClean="0"/>
              <a:t>и анимация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Освещение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Рендер 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и </a:t>
            </a:r>
            <a:r>
              <a:rPr lang="ru-RU" sz="2000" dirty="0" smtClean="0"/>
              <a:t>финальная презентация(</a:t>
            </a:r>
            <a:r>
              <a:rPr lang="ru-RU" sz="2000" dirty="0" err="1" smtClean="0"/>
              <a:t>композинг</a:t>
            </a:r>
            <a:r>
              <a:rPr lang="ru-RU" sz="2000" dirty="0" smtClean="0"/>
              <a:t>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7272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dirty="0" smtClean="0"/>
              <a:t>Визуальное мышление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000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75606"/>
            <a:ext cx="8073378" cy="3211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95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https://i.pinimg.com/564x/c3/19/d4/c319d40d11b393946991514468b31a9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312739"/>
            <a:ext cx="2592288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Изображение пина-истории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124" y="65329"/>
            <a:ext cx="2146380" cy="214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65330"/>
            <a:ext cx="2716804" cy="214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2" descr="https://i.pinimg.com/564x/fe/74/e6/fe74e6227876300f69ef1f9a200c91ca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3"/>
          <a:stretch/>
        </p:blipFill>
        <p:spPr bwMode="auto">
          <a:xfrm>
            <a:off x="2658215" y="65331"/>
            <a:ext cx="2201817" cy="214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i.pinimg.com/564x/1c/05/73/1c0573305628318e71134729f1861c8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961" y="65330"/>
            <a:ext cx="2146381" cy="214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i.pinimg.com/564x/46/6e/40/466e40d3a613c1dc75eaf2e3b5f1166c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65" y="2312739"/>
            <a:ext cx="2622843" cy="261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i.pinimg.com/564x/8f/48/5d/8f485d981fe18909efb54ac043ca8d42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" t="521" r="61703" b="52462"/>
          <a:stretch/>
        </p:blipFill>
        <p:spPr bwMode="auto">
          <a:xfrm>
            <a:off x="2894159" y="2312739"/>
            <a:ext cx="1431407" cy="261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https://i.pinimg.com/564x/8f/48/5d/8f485d981fe18909efb54ac043ca8d42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46" b="52338"/>
          <a:stretch/>
        </p:blipFill>
        <p:spPr bwMode="auto">
          <a:xfrm>
            <a:off x="4375917" y="2312739"/>
            <a:ext cx="1945932" cy="261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Изображение пина-истории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35" y="65332"/>
            <a:ext cx="2146380" cy="214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80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79513"/>
            <a:ext cx="7772400" cy="1102519"/>
          </a:xfrm>
        </p:spPr>
        <p:txBody>
          <a:bodyPr>
            <a:normAutofit/>
          </a:bodyPr>
          <a:lstStyle/>
          <a:p>
            <a:r>
              <a:rPr lang="ru-RU" dirty="0" smtClean="0"/>
              <a:t>Что такое стилизация?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553444"/>
            <a:ext cx="6400800" cy="131445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А реализм?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1369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9220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2936" y="1298351"/>
            <a:ext cx="3600400" cy="202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Picture background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361"/>
          <a:stretch/>
        </p:blipFill>
        <p:spPr bwMode="auto">
          <a:xfrm>
            <a:off x="467544" y="239408"/>
            <a:ext cx="4113891" cy="22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71750"/>
            <a:ext cx="4113891" cy="231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Picture backgrou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330" y="239408"/>
            <a:ext cx="4032447" cy="22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Picture background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0"/>
          <a:stretch/>
        </p:blipFill>
        <p:spPr bwMode="auto">
          <a:xfrm>
            <a:off x="4675331" y="2571751"/>
            <a:ext cx="4032447" cy="231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77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122" name="Picture 2" descr="https://i.pinimg.com/564x/0e/75/f4/0e75f4dbde366d75cdfe6ba5fe6e214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43557"/>
            <a:ext cx="3260311" cy="326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i.pinimg.com/564x/cd/9b/5e/cd9b5ef6d8e61dd4d53662e8c0cec4d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191" y="843557"/>
            <a:ext cx="2231573" cy="326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i.pinimg.com/564x/47/cd/58/47cd58d2406f8d07f5170166db52544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823" y="843557"/>
            <a:ext cx="3260312" cy="326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51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 descr="https://i.pinimg.com/564x/0a/bb/78/0abb780331c11c41f8ceffb6899d080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228" y="699541"/>
            <a:ext cx="3554932" cy="346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https://i.pinimg.com/564x/59/49/2a/59492ac5e795cb2c3ebfae9c747e2dc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99542"/>
            <a:ext cx="2781241" cy="346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s://i.pinimg.com/564x/d2/99/d7/d299d72950e53ad950d91f5d64156be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823" y="699542"/>
            <a:ext cx="3466689" cy="346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80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dirty="0" smtClean="0"/>
              <a:t>На что мы влияем?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200151"/>
            <a:ext cx="7715200" cy="3394472"/>
          </a:xfrm>
        </p:spPr>
        <p:txBody>
          <a:bodyPr>
            <a:normAutofit/>
          </a:bodyPr>
          <a:lstStyle/>
          <a:p>
            <a:r>
              <a:rPr lang="ru-RU" sz="2000" dirty="0" smtClean="0"/>
              <a:t>Форма: </a:t>
            </a:r>
          </a:p>
          <a:p>
            <a:pPr lvl="1"/>
            <a:r>
              <a:rPr lang="ru-RU" sz="2000" b="1" dirty="0" smtClean="0"/>
              <a:t>Пропорции</a:t>
            </a:r>
          </a:p>
          <a:p>
            <a:pPr lvl="1"/>
            <a:r>
              <a:rPr lang="ru-RU" sz="2000" dirty="0"/>
              <a:t>С</a:t>
            </a:r>
            <a:r>
              <a:rPr lang="ru-RU" sz="2000" dirty="0" smtClean="0"/>
              <a:t>илуэт</a:t>
            </a:r>
          </a:p>
          <a:p>
            <a:r>
              <a:rPr lang="ru-RU" sz="2000" dirty="0" smtClean="0"/>
              <a:t>Детали</a:t>
            </a:r>
          </a:p>
          <a:p>
            <a:r>
              <a:rPr lang="ru-RU" sz="2000" b="1" dirty="0" smtClean="0"/>
              <a:t>Текстуры/материалы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67544" y="4085079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>
                <a:hlinkClick r:id="rId3"/>
              </a:rPr>
              <a:t>https://vk.com/@rocketbrush-realizm-i-stilizaciya-sravnenie-tehnik</a:t>
            </a:r>
            <a:endParaRPr lang="ru-RU" sz="1050" dirty="0"/>
          </a:p>
          <a:p>
            <a:r>
              <a:rPr lang="ru-RU" sz="1050" dirty="0"/>
              <a:t>Подробнее можно почитать тут</a:t>
            </a:r>
          </a:p>
        </p:txBody>
      </p:sp>
    </p:spTree>
    <p:extLst>
      <p:ext uri="{BB962C8B-B14F-4D97-AF65-F5344CB8AC3E}">
        <p14:creationId xmlns:p14="http://schemas.microsoft.com/office/powerpoint/2010/main" val="338398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786508"/>
            <a:ext cx="8229600" cy="857250"/>
          </a:xfrm>
        </p:spPr>
        <p:txBody>
          <a:bodyPr>
            <a:normAutofit/>
          </a:bodyPr>
          <a:lstStyle/>
          <a:p>
            <a:r>
              <a:rPr lang="ru-RU" sz="4000" dirty="0" smtClean="0"/>
              <a:t>Что такое пропорции?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43802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Picture backgroun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293" y="843558"/>
            <a:ext cx="4856582" cy="3642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448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4" name="Picture 4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999" y="0"/>
            <a:ext cx="51435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3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8" name="Picture 6" descr="https://i.pinimg.com/564x/be/a7/87/bea7878fea3fd98d621a0bad7fbc7a76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" t="45674" r="2976" b="1903"/>
          <a:stretch/>
        </p:blipFill>
        <p:spPr bwMode="auto">
          <a:xfrm>
            <a:off x="2349878" y="171397"/>
            <a:ext cx="4094330" cy="4767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i.pinimg.com/564x/4f/53/16/4f5316de9b78acc16a3e3ddc8e25f7dd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73" y="171397"/>
            <a:ext cx="1799263" cy="4767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51470"/>
            <a:ext cx="3967448" cy="528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35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Picture 6" descr="https://i.pinimg.com/564x/be/a7/87/bea7878fea3fd98d621a0bad7fbc7a7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14"/>
          <a:stretch/>
        </p:blipFill>
        <p:spPr bwMode="auto">
          <a:xfrm>
            <a:off x="4127661" y="335886"/>
            <a:ext cx="4692811" cy="439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i.pinimg.com/564x/be/a7/87/bea7878fea3fd98d621a0bad7fbc7a7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" t="45674" r="2976" b="1903"/>
          <a:stretch/>
        </p:blipFill>
        <p:spPr bwMode="auto">
          <a:xfrm>
            <a:off x="352422" y="335888"/>
            <a:ext cx="3775239" cy="439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49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88024" y="617438"/>
            <a:ext cx="3096344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Эргономика </a:t>
            </a:r>
            <a:r>
              <a:rPr lang="ru-RU" sz="2000" b="1" dirty="0" smtClean="0"/>
              <a:t>— </a:t>
            </a:r>
            <a:br>
              <a:rPr lang="ru-RU" sz="2000" b="1" dirty="0" smtClean="0"/>
            </a:br>
            <a:r>
              <a:rPr lang="ru-RU" sz="2000" dirty="0" smtClean="0"/>
              <a:t>научная </a:t>
            </a:r>
            <a:r>
              <a:rPr lang="ru-RU" sz="2000" dirty="0"/>
              <a:t>дисциплина, изучающая взаимодействие человека с окружающим миром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при </a:t>
            </a:r>
            <a:r>
              <a:rPr lang="ru-RU" sz="2000" dirty="0"/>
              <a:t>работе 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7174" name="Picture 6" descr="https://i.pinimg.com/564x/de/ed/6f/deed6f1d24a44b147dd083c04a8b2fe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352" y="-31518"/>
            <a:ext cx="3168352" cy="499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i.pinimg.com/564x/4f/ba/8f/4fba8f71ebed4e7084d120a78044010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-1"/>
            <a:ext cx="3707904" cy="524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59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6" name="Picture 2" descr="https://i.pinimg.com/564x/f6/26/c5/f626c57859f73525fb2dc3e7353a55a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64997"/>
            <a:ext cx="4287814" cy="415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i.pinimg.com/564x/7e/27/8d/7e278d6604ef4577cf0a8ad692490c0d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7" t="29976" r="357" b="37032"/>
          <a:stretch/>
        </p:blipFill>
        <p:spPr bwMode="auto">
          <a:xfrm>
            <a:off x="554003" y="338890"/>
            <a:ext cx="3539089" cy="177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i.pinimg.com/564x/dc/58/c7/dc58c7e6e220142224876e4080507579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20" y="2427734"/>
            <a:ext cx="3378222" cy="215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54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194" name="Picture 2" descr="https://i.pinimg.com/564x/8c/7d/0a/8c7d0a988d723ed67efd6169240384a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843558"/>
            <a:ext cx="3149512" cy="314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i.pinimg.com/564x/0d/70/10/0d70101289aff2ae4f01d4ff95ecc6d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100" y="833723"/>
            <a:ext cx="4669348" cy="33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63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485775"/>
            <a:ext cx="6459537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847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Picture backgroun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Picture background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8" descr="Picture background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10" descr="Picture background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12" descr="Picture background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301" name="Picture 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9582"/>
            <a:ext cx="3363746" cy="322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03" name="Picture 15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972" y="813791"/>
            <a:ext cx="4762500" cy="348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76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87574"/>
            <a:ext cx="4176464" cy="2779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7574"/>
            <a:ext cx="3919552" cy="2783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97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000" dirty="0" smtClean="0"/>
              <a:t>Чуть-чуть ресурсов про мебель…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hlinkClick r:id="rId3"/>
              </a:rPr>
              <a:t>https://mebel.ru/articles/razmer-divana-kakimi-oni-byvayut-i-kak-podobrat-podkhodyashchiy-feb22</a:t>
            </a:r>
            <a:r>
              <a:rPr lang="en-US" sz="1400" dirty="0" smtClean="0">
                <a:hlinkClick r:id="rId3"/>
              </a:rPr>
              <a:t>/</a:t>
            </a:r>
            <a:r>
              <a:rPr lang="ru-RU" sz="1400" dirty="0" smtClean="0"/>
              <a:t>  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en-US" sz="1400" dirty="0">
                <a:hlinkClick r:id="rId4"/>
              </a:rPr>
              <a:t>https://mebel.ru/articles/vidy-stolov-feb22</a:t>
            </a:r>
            <a:r>
              <a:rPr lang="en-US" sz="1400" dirty="0" smtClean="0">
                <a:hlinkClick r:id="rId4"/>
              </a:rPr>
              <a:t>/</a:t>
            </a:r>
            <a:endParaRPr lang="ru-RU" sz="1400" dirty="0" smtClean="0"/>
          </a:p>
          <a:p>
            <a:pPr marL="0" indent="0">
              <a:buNone/>
            </a:pPr>
            <a:endParaRPr lang="ru-RU" sz="1400" dirty="0" smtClean="0"/>
          </a:p>
          <a:p>
            <a:pPr marL="0" indent="0">
              <a:buNone/>
            </a:pPr>
            <a:r>
              <a:rPr lang="en-US" sz="1400" dirty="0">
                <a:hlinkClick r:id="rId5"/>
              </a:rPr>
              <a:t>https://www.mrdoors.ru/blog_new/vybor_razmerov_divana_standartnye_i_nestandartnye_resheniya</a:t>
            </a:r>
            <a:r>
              <a:rPr lang="en-US" sz="1400" dirty="0" smtClean="0">
                <a:hlinkClick r:id="rId5"/>
              </a:rPr>
              <a:t>_/</a:t>
            </a: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en-US" sz="1400" dirty="0">
                <a:hlinkClick r:id="rId6"/>
              </a:rPr>
              <a:t>https://</a:t>
            </a:r>
            <a:r>
              <a:rPr lang="en-US" sz="1400" dirty="0" smtClean="0">
                <a:hlinkClick r:id="rId6"/>
              </a:rPr>
              <a:t>dzen.ru/a/YRkub5DH4geKomGr</a:t>
            </a:r>
            <a:endParaRPr lang="ru-RU" sz="1400" dirty="0" smtClean="0"/>
          </a:p>
          <a:p>
            <a:pPr marL="0" indent="0">
              <a:buNone/>
            </a:pPr>
            <a:endParaRPr lang="ru-RU" sz="1400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418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89636"/>
            <a:ext cx="3756032" cy="3466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6" name="Picture 6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689636"/>
            <a:ext cx="4650821" cy="3466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018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9458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46511"/>
            <a:ext cx="8136508" cy="4458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666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483" name="Picture 3">
            <a:hlinkClick r:id="rId3"/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" r="5845"/>
          <a:stretch/>
        </p:blipFill>
        <p:spPr bwMode="auto">
          <a:xfrm>
            <a:off x="362607" y="1131589"/>
            <a:ext cx="4209393" cy="259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5" name="Picture 5">
            <a:hlinkClick r:id="rId5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131588"/>
            <a:ext cx="4149795" cy="259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34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8" name="Picture 8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27534"/>
            <a:ext cx="8085786" cy="3815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09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Picture 4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0078"/>
            <a:ext cx="8064896" cy="4697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93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7" name="Picture 7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08568"/>
            <a:ext cx="7992690" cy="4395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180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dirty="0" err="1" smtClean="0"/>
              <a:t>Блокинг</a:t>
            </a:r>
            <a:r>
              <a:rPr lang="ru-RU" sz="3200" dirty="0" smtClean="0"/>
              <a:t>/</a:t>
            </a:r>
            <a:r>
              <a:rPr lang="ru-RU" sz="3200" dirty="0" err="1" smtClean="0"/>
              <a:t>блокаут</a:t>
            </a:r>
            <a:r>
              <a:rPr lang="ru-RU" sz="3200" dirty="0" smtClean="0"/>
              <a:t>/</a:t>
            </a:r>
            <a:r>
              <a:rPr lang="ru-RU" sz="3200" dirty="0" err="1" smtClean="0"/>
              <a:t>драфт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 err="1"/>
              <a:t>Блокинг</a:t>
            </a:r>
            <a:r>
              <a:rPr lang="ru-RU" sz="1600" b="1" dirty="0"/>
              <a:t> </a:t>
            </a:r>
            <a:r>
              <a:rPr lang="ru-RU" sz="1600" dirty="0"/>
              <a:t>(англ. </a:t>
            </a:r>
            <a:r>
              <a:rPr lang="ru-RU" sz="1600" dirty="0" err="1"/>
              <a:t>blocking</a:t>
            </a:r>
            <a:r>
              <a:rPr lang="ru-RU" sz="1600" dirty="0"/>
              <a:t>) — 3D-скетч, с помощью которого намечаются пропорции и силуэт запланированной 3D-сцены. Чаще термин используется при создании окружения.</a:t>
            </a:r>
            <a:endParaRPr lang="ru-RU" sz="1600" dirty="0" smtClean="0"/>
          </a:p>
        </p:txBody>
      </p:sp>
      <p:pic>
        <p:nvPicPr>
          <p:cNvPr id="16386" name="Picture 2" descr="Picture background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95686"/>
            <a:ext cx="3363834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995686"/>
            <a:ext cx="3416615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77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7410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64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17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dirty="0" smtClean="0"/>
              <a:t>Как все учесть?</a:t>
            </a:r>
            <a:endParaRPr lang="ru-RU" sz="320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3"/>
          <a:stretch/>
        </p:blipFill>
        <p:spPr bwMode="auto">
          <a:xfrm>
            <a:off x="539750" y="1075039"/>
            <a:ext cx="3028950" cy="3789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075039"/>
            <a:ext cx="2455862" cy="3789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58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dirty="0" smtClean="0"/>
              <a:t>Как все учесть?</a:t>
            </a:r>
            <a:endParaRPr lang="ru-RU" sz="3200" dirty="0"/>
          </a:p>
        </p:txBody>
      </p:sp>
      <p:pic>
        <p:nvPicPr>
          <p:cNvPr id="21506" name="Picture 2" descr="D:\инуяша\textures\Модуль_человек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04392"/>
            <a:ext cx="1389109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180271"/>
            <a:ext cx="5328591" cy="3696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88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dirty="0" smtClean="0"/>
              <a:t>Как добавить болванку?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83968" y="1200151"/>
            <a:ext cx="4402832" cy="339447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 smtClean="0"/>
              <a:t>SHIFT + A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Image -&gt; Reference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Повернуть (чтобы стоял </a:t>
            </a:r>
            <a:r>
              <a:rPr lang="ru-RU" sz="2000" strike="sngStrike" dirty="0" smtClean="0"/>
              <a:t>адекватно</a:t>
            </a:r>
            <a:r>
              <a:rPr lang="ru-RU" sz="2000" dirty="0" smtClean="0"/>
              <a:t> вертикально)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Масштабировать (высота = рост человека)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Вы великолепны!</a:t>
            </a:r>
            <a:endParaRPr lang="ru-RU" sz="20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84" y="1203598"/>
            <a:ext cx="3542613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75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421</Words>
  <Application>Microsoft Office PowerPoint</Application>
  <PresentationFormat>Экран (16:9)</PresentationFormat>
  <Paragraphs>135</Paragraphs>
  <Slides>33</Slides>
  <Notes>26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4" baseType="lpstr">
      <vt:lpstr>Тема Office</vt:lpstr>
      <vt:lpstr>Полигональное моделирование</vt:lpstr>
      <vt:lpstr>В предыдущих сериях:</vt:lpstr>
      <vt:lpstr>Визуальное мышление</vt:lpstr>
      <vt:lpstr>Презентация PowerPoint</vt:lpstr>
      <vt:lpstr>Что такое стилизация?</vt:lpstr>
      <vt:lpstr>Презентация PowerPoint</vt:lpstr>
      <vt:lpstr>Презентация PowerPoint</vt:lpstr>
      <vt:lpstr>Презентация PowerPoint</vt:lpstr>
      <vt:lpstr>На что мы влияем?</vt:lpstr>
      <vt:lpstr>Что такое пропорции?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Чуть-чуть ресурсов про мебель…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Блокинг/блокаут/драфт</vt:lpstr>
      <vt:lpstr>Презентация PowerPoint</vt:lpstr>
      <vt:lpstr>Презентация PowerPoint</vt:lpstr>
      <vt:lpstr>Как все учесть?</vt:lpstr>
      <vt:lpstr>Как все учесть?</vt:lpstr>
      <vt:lpstr>Как добавить болванку?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Вводная лекция</dc:title>
  <dc:creator>VITA</dc:creator>
  <cp:lastModifiedBy>VITA</cp:lastModifiedBy>
  <cp:revision>98</cp:revision>
  <dcterms:created xsi:type="dcterms:W3CDTF">2024-09-06T09:02:42Z</dcterms:created>
  <dcterms:modified xsi:type="dcterms:W3CDTF">2024-09-20T18:51:49Z</dcterms:modified>
</cp:coreProperties>
</file>