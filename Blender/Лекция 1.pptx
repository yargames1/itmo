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 type="screen16x9"/>
  <p:notesSz cx="9144000" cy="51435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>
      <p:cViewPr varScale="1">
        <p:scale>
          <a:sx n="88" d="100"/>
          <a:sy n="88" d="100"/>
        </p:scale>
        <p:origin x="-2219" y="-95"/>
      </p:cViewPr>
      <p:guideLst>
        <p:guide pos="552" orient="horz"/>
        <p:guide pos="2880"/>
        <p:guide pos="396" orient="horz"/>
        <p:guide pos="652" orient="horz"/>
        <p:guide pos="3078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DBD9A5-19A8-4237-AB6E-C6265AEE460D}" type="datetimeFigureOut">
              <a:rPr lang="ru-RU"/>
              <a:t/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будем изучать/делать</a:t>
            </a:r>
            <a:br>
              <a:rPr lang="ru-RU"/>
            </a:br>
            <a:r>
              <a:rPr lang="ru-RU"/>
              <a:t>Что нужно: мышь, ПО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3D-моделирование — процесс создания трёхмерных объектов различных конфигураций с использованием компьютерной графики. 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CAD мы получаем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электронно-геометрическую модель изделия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ru-RU"/>
            </a:br>
            <a:br>
              <a:rPr lang="ru-RU"/>
            </a:b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(Напоминаю, что при полигональном моделировании мы получаем визуальный образ)</a:t>
            </a:r>
            <a:endParaRPr/>
          </a:p>
          <a:p>
            <a:pPr>
              <a:defRPr/>
            </a:pPr>
            <a:endParaRPr lang="ru-RU" sz="1200" b="0" i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Базовым типом является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твердотельное моделирование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Из названия можно понять, что, если мы разрежем тело, внутри оно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будет пустым. Твердотельное моделирование есть в любой CAD-системе. Оно отлично подходит для проектирования рам, шестеренок, двигателей, зданий, самолётов, автомобилей, да и всего, что получается путем промышленного производства. Но в нем (в отличии от полигонального моделирования)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нельзя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сделать модель пакета с продуктами из супермаркета, копию соседской собаки или скомканные вещи на стуле.</a:t>
            </a: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Основа 3д модели – полигональный каркас</a:t>
            </a: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surface</a:t>
            </a: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бесконечно тонкая поверхность</a:t>
            </a: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Скульптуринг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 Готовую полигональную модель можно изменять подобно глиняной заготовке: тянуть, сжимать, скручивать и т.д.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Основа 3д модели – полигональный каркас</a:t>
            </a: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surface</a:t>
            </a:r>
            <a:r>
              <a:rPr lang="en-US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–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бесконечно тонкая поверхность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Треугольники </a:t>
            </a:r>
            <a:r>
              <a:rPr lang="ru-RU"/>
              <a:t>трисы</a:t>
            </a:r>
            <a:endParaRPr lang="ru-RU"/>
          </a:p>
          <a:p>
            <a:pPr>
              <a:defRPr/>
            </a:pPr>
            <a:r>
              <a:rPr lang="ru-RU"/>
              <a:t>Четырехугольники </a:t>
            </a:r>
            <a:r>
              <a:rPr lang="ru-RU"/>
              <a:t>квадры</a:t>
            </a:r>
            <a:endParaRPr lang="ru-RU"/>
          </a:p>
          <a:p>
            <a:pPr>
              <a:defRPr/>
            </a:pPr>
            <a:r>
              <a:rPr lang="en-US"/>
              <a:t>N-</a:t>
            </a:r>
            <a:r>
              <a:rPr lang="en-US"/>
              <a:t>gon</a:t>
            </a: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Плоские и неплоские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Hi-poly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большое количество полигонов (примерно, 1 — 3 миллиона).</a:t>
            </a:r>
            <a:endParaRPr/>
          </a:p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Mid-poly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среднее количество полигонов.</a:t>
            </a:r>
            <a:endParaRPr/>
          </a:p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Low-poly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— малое количество полигонов (примерно 5 — 10 тысяч).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Нормаль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3D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-моделировании -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изображение ориентации поверхности многоугольника. По сути,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перпендикулярная линия, выступающая из плоскости. Когда вы имеете дело с кривой, вы будете использовать плоскость, лежащую по касательной к рассматриваемой точке, чтобы найти ее </a:t>
            </a:r>
            <a:r>
              <a:rPr lang="ru-RU" sz="1200" b="1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нормаль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 изменяем сетку, комбинируем объекты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Метод работы с каркасом модели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Полигон за полигоном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Сечения</a:t>
            </a:r>
            <a:br>
              <a:rPr lang="ru-RU"/>
            </a:b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Loft</a:t>
            </a: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-объекты строятся путем формирования оболочки по опорным сечениям, расставляемым вдоль некоторой заданной траектории. Оболочка как бы натягивается на сечения вдоль указанного пути, а в результате получается трехмерная модель. 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то, что изменяет состав, структуру, функцию чего-л. 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Образующая и ось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BC7852-750C-4518-8BFE-EF078C52E7A8}" type="slidenum">
              <a:rPr lang="ru-RU"/>
              <a:t/>
            </a:fld>
            <a:endParaRPr lang="ru-RU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 разработки продукта (в нашем случае модели)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85800" y="1597819"/>
            <a:ext cx="7772400" cy="1102519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6629400" y="154781"/>
            <a:ext cx="2057400" cy="329088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154781"/>
            <a:ext cx="6019800" cy="329088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C58AA57-01C6-48EE-9AC2-15E7B5396238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813E3E-1670-4494-8940-2309181B3343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jp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jp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jp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jp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685800" y="1579513"/>
            <a:ext cx="7772400" cy="110251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Полигональное моделирование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371600" y="2553444"/>
            <a:ext cx="6400800" cy="13144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2000"/>
              <a:t>Лекция 1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Кто</a:t>
            </a:r>
            <a:r>
              <a:rPr lang="ru-RU"/>
              <a:t> я?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endParaRPr lang="ru-RU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998487" y="987574"/>
            <a:ext cx="7173913" cy="40005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199" y="1912107"/>
            <a:ext cx="8229600" cy="268251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ctr">
              <a:buNone/>
              <a:defRPr/>
            </a:pPr>
            <a:r>
              <a:rPr lang="ru-RU" sz="3600"/>
              <a:t>ИСУ – для связи и вопросов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1570484"/>
            <a:ext cx="8229600" cy="857250"/>
          </a:xfrm>
        </p:spPr>
        <p:txBody>
          <a:bodyPr/>
          <a:lstStyle/>
          <a:p>
            <a:pPr>
              <a:defRPr/>
            </a:pPr>
            <a:r>
              <a:rPr lang="ru-RU"/>
              <a:t>Кто вы?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7200" y="2499741"/>
            <a:ext cx="8229600" cy="2094881"/>
          </a:xfrm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ru-RU" sz="2000"/>
              <a:t>Опыт 3</a:t>
            </a:r>
            <a:r>
              <a:rPr lang="en-US" sz="2000"/>
              <a:t>D (</a:t>
            </a:r>
            <a:r>
              <a:rPr lang="ru-RU" sz="2000"/>
              <a:t>поднять руку)</a:t>
            </a:r>
            <a:endParaRPr lang="en-US" sz="2000"/>
          </a:p>
          <a:p>
            <a:pPr marL="0" indent="0" algn="ctr">
              <a:buNone/>
              <a:defRPr/>
            </a:pPr>
            <a:r>
              <a:rPr lang="ru-RU" sz="2000"/>
              <a:t>Цели и ожидания от курса 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024632"/>
            <a:ext cx="8229600" cy="857250"/>
          </a:xfrm>
        </p:spPr>
        <p:txBody>
          <a:bodyPr/>
          <a:lstStyle/>
          <a:p>
            <a:pPr>
              <a:defRPr/>
            </a:pPr>
            <a:r>
              <a:rPr lang="ru-RU"/>
              <a:t>О чем</a:t>
            </a:r>
            <a:r>
              <a:rPr lang="ru-RU"/>
              <a:t> предмет?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Что вас ожидает: пары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7200" y="1057275"/>
            <a:ext cx="8229600" cy="3394471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Лекции (8 встреч)</a:t>
            </a:r>
            <a:endParaRPr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5015433" y="1459309"/>
            <a:ext cx="3135312" cy="3135312"/>
          </a:xfrm>
          <a:prstGeom prst="rect">
            <a:avLst/>
          </a:prstGeom>
          <a:noFill/>
        </p:spPr>
      </p:pic>
      <p:sp>
        <p:nvSpPr>
          <p:cNvPr id="1047978462" name="Объект 2"/>
          <p:cNvSpPr>
            <a:spLocks noGrp="1"/>
          </p:cNvSpPr>
          <p:nvPr>
            <p:ph idx="1"/>
          </p:nvPr>
        </p:nvSpPr>
        <p:spPr bwMode="auto">
          <a:xfrm>
            <a:off x="457200" y="1504950"/>
            <a:ext cx="8229600" cy="3394471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Лабораторные (8 встреч по 2 пары)</a:t>
            </a:r>
            <a:endParaRPr/>
          </a:p>
        </p:txBody>
      </p:sp>
      <p:sp>
        <p:nvSpPr>
          <p:cNvPr id="823586490" name="Объект 2"/>
          <p:cNvSpPr>
            <a:spLocks noGrp="1"/>
          </p:cNvSpPr>
          <p:nvPr>
            <p:ph idx="1"/>
          </p:nvPr>
        </p:nvSpPr>
        <p:spPr bwMode="auto">
          <a:xfrm>
            <a:off x="457200" y="1952625"/>
            <a:ext cx="8229600" cy="3394471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СРС </a:t>
            </a:r>
            <a:endParaRPr/>
          </a:p>
        </p:txBody>
      </p:sp>
      <p:sp>
        <p:nvSpPr>
          <p:cNvPr id="2077915704" name="Объект 2"/>
          <p:cNvSpPr>
            <a:spLocks noGrp="1"/>
          </p:cNvSpPr>
          <p:nvPr>
            <p:ph idx="1"/>
          </p:nvPr>
        </p:nvSpPr>
        <p:spPr bwMode="auto">
          <a:xfrm>
            <a:off x="457200" y="2400300"/>
            <a:ext cx="8229600" cy="3394471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Связь с другими предметами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97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8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1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Что вас ожидает:</a:t>
            </a:r>
            <a:r>
              <a:rPr lang="ru-RU"/>
              <a:t> зачет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199" y="1063228"/>
            <a:ext cx="8229600" cy="353139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Зачет проводится в виде защиты электронных портфолио, полученных</a:t>
            </a:r>
            <a:endParaRPr lang="ru-RU" sz="2000"/>
          </a:p>
          <a:p>
            <a:pPr marL="0" indent="0">
              <a:buFont typeface="Arial"/>
              <a:buNone/>
              <a:defRPr/>
            </a:pPr>
            <a:r>
              <a:rPr lang="ru-RU" sz="2000"/>
              <a:t>в ходе выполнения заданий в течение семестра.</a:t>
            </a:r>
            <a:endParaRPr/>
          </a:p>
        </p:txBody>
      </p:sp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5554959" y="1727028"/>
            <a:ext cx="2867594" cy="286759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23318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l">
              <a:defRPr/>
            </a:pPr>
            <a:r>
              <a:rPr lang="ru-RU"/>
              <a:t>Что вас ожидает:</a:t>
            </a:r>
            <a:r>
              <a:rPr lang="ru-RU"/>
              <a:t> зачет</a:t>
            </a:r>
            <a:endParaRPr lang="ru-RU"/>
          </a:p>
        </p:txBody>
      </p:sp>
      <p:sp>
        <p:nvSpPr>
          <p:cNvPr id="835247418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199" y="1063228"/>
            <a:ext cx="8229600" cy="3531393"/>
          </a:xfrm>
        </p:spPr>
        <p:txBody>
          <a:bodyPr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Зачет проводится в виде защиты электронных портфолио, полученных</a:t>
            </a:r>
            <a:endParaRPr lang="ru-RU" sz="2000"/>
          </a:p>
          <a:p>
            <a:pPr marL="0" indent="0">
              <a:buFont typeface="Arial"/>
              <a:buNone/>
              <a:defRPr/>
            </a:pPr>
            <a:r>
              <a:rPr lang="ru-RU" sz="2000"/>
              <a:t>в ходе выполнения заданий в течение семестра.</a:t>
            </a:r>
            <a:endParaRPr/>
          </a:p>
        </p:txBody>
      </p:sp>
      <p:pic>
        <p:nvPicPr>
          <p:cNvPr id="1603834189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5554959" y="1727028"/>
            <a:ext cx="2867594" cy="2867594"/>
          </a:xfrm>
          <a:prstGeom prst="rect">
            <a:avLst/>
          </a:prstGeom>
          <a:noFill/>
        </p:spPr>
      </p:pic>
      <p:sp>
        <p:nvSpPr>
          <p:cNvPr id="44186402" name=""/>
          <p:cNvSpPr txBox="1"/>
          <p:nvPr/>
        </p:nvSpPr>
        <p:spPr bwMode="auto">
          <a:xfrm flipH="0" flipV="0">
            <a:off x="457560" y="2054789"/>
            <a:ext cx="3562276" cy="40726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 defTabSz="0">
              <a:lnSpc>
                <a:spcPct val="114999"/>
              </a:lnSpc>
              <a:buFont typeface="Arial"/>
              <a:buChar char="•"/>
              <a:defRPr/>
            </a:pPr>
            <a:r>
              <a:rPr lang="ru-RU"/>
              <a:t>В сессию</a:t>
            </a:r>
            <a:endParaRPr/>
          </a:p>
        </p:txBody>
      </p:sp>
      <p:sp>
        <p:nvSpPr>
          <p:cNvPr id="1818209784" name=""/>
          <p:cNvSpPr txBox="1"/>
          <p:nvPr/>
        </p:nvSpPr>
        <p:spPr bwMode="auto">
          <a:xfrm flipH="0" flipV="0">
            <a:off x="457200" y="2462053"/>
            <a:ext cx="3559755" cy="72273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14999"/>
              </a:lnSpc>
              <a:buFont typeface="Arial"/>
              <a:buChar char="•"/>
              <a:defRPr/>
            </a:pPr>
            <a:r>
              <a:rPr lang="ru-RU"/>
              <a:t>Самостоятельное выполнение </a:t>
            </a:r>
            <a:br>
              <a:rPr lang="ru-RU"/>
            </a:br>
            <a:r>
              <a:rPr lang="ru-RU"/>
              <a:t>и подача/защита заданий</a:t>
            </a:r>
            <a:endParaRPr/>
          </a:p>
        </p:txBody>
      </p:sp>
      <p:sp>
        <p:nvSpPr>
          <p:cNvPr id="1179161058" name=""/>
          <p:cNvSpPr txBox="1"/>
          <p:nvPr/>
        </p:nvSpPr>
        <p:spPr bwMode="auto">
          <a:xfrm flipH="0" flipV="0">
            <a:off x="456839" y="3184785"/>
            <a:ext cx="355903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00000"/>
              </a:lnSpc>
              <a:buFont typeface="Arial"/>
              <a:buChar char="•"/>
              <a:defRPr/>
            </a:pPr>
            <a:r>
              <a:rPr lang="ru-RU"/>
              <a:t>Выполненное задание </a:t>
            </a:r>
            <a:r>
              <a:rPr lang="ru-RU"/>
              <a:t>соответствует критериям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200" y="339501"/>
            <a:ext cx="8229600" cy="1396164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2400" b="1"/>
              <a:t>Задание</a:t>
            </a:r>
            <a:br>
              <a:rPr lang="ru-RU" sz="2400"/>
            </a:br>
            <a:r>
              <a:rPr lang="ru-RU" sz="2400"/>
              <a:t>Разработать  проект (3</a:t>
            </a:r>
            <a:r>
              <a:rPr lang="en-US" sz="2400"/>
              <a:t>D </a:t>
            </a:r>
            <a:r>
              <a:rPr lang="ru-RU" sz="2400"/>
              <a:t>модель) интерьера, </a:t>
            </a:r>
            <a:br>
              <a:rPr lang="ru-RU" sz="2400"/>
            </a:br>
            <a:r>
              <a:rPr lang="ru-RU" sz="2400"/>
              <a:t>подготовить его для импорта в движок.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223061" name="Объект 2"/>
          <p:cNvSpPr>
            <a:spLocks noGrp="1"/>
          </p:cNvSpPr>
          <p:nvPr>
            <p:ph idx="1"/>
          </p:nvPr>
        </p:nvSpPr>
        <p:spPr bwMode="auto">
          <a:xfrm>
            <a:off x="457200" y="339501"/>
            <a:ext cx="8229600" cy="507502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 sz="2400" b="1"/>
              <a:t>Задание</a:t>
            </a:r>
            <a:br>
              <a:rPr lang="ru-RU" sz="2400"/>
            </a:br>
            <a:r>
              <a:rPr lang="ru-RU" sz="2400"/>
              <a:t>Разработать  проект (3</a:t>
            </a:r>
            <a:r>
              <a:rPr lang="en-US" sz="2400"/>
              <a:t>D </a:t>
            </a:r>
            <a:r>
              <a:rPr lang="ru-RU" sz="2400"/>
              <a:t>модель) интерьера, </a:t>
            </a:r>
            <a:br>
              <a:rPr lang="ru-RU" sz="2400"/>
            </a:br>
            <a:r>
              <a:rPr lang="ru-RU" sz="2400"/>
              <a:t>подготовить его для импорта в движок. </a:t>
            </a:r>
            <a:endParaRPr/>
          </a:p>
        </p:txBody>
      </p:sp>
      <p:sp>
        <p:nvSpPr>
          <p:cNvPr id="1827189604" name="Объект 2"/>
          <p:cNvSpPr txBox="1"/>
          <p:nvPr/>
        </p:nvSpPr>
        <p:spPr bwMode="auto">
          <a:xfrm rot="0" flipH="0" flipV="0">
            <a:off x="457200" y="1742400"/>
            <a:ext cx="8229600" cy="3168351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2" spcCol="0" rtlCol="0" fromWordArt="0" anchor="t" anchorCtr="0" forceAA="0" upright="0" compatLnSpc="0">
            <a:no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/>
              <a:buNone/>
              <a:defRPr/>
            </a:pPr>
            <a:r>
              <a:rPr lang="ru-RU" sz="1400"/>
              <a:t>Интерьер должен содержать:</a:t>
            </a:r>
            <a:endParaRPr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стены с дверью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кресло </a:t>
            </a:r>
            <a:r>
              <a:rPr lang="ru-RU" sz="1400" b="1" strike="noStrike" cap="none" spc="0"/>
              <a:t>и</a:t>
            </a:r>
            <a:r>
              <a:rPr lang="ru-RU" sz="1400" strike="noStrike" cap="none" spc="0"/>
              <a:t> диван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стол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телевизор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сейф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ключ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декор (вазы, книги, мини статуи)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светильники</a:t>
            </a:r>
            <a:endParaRPr strike="noStrike" cap="none" spc="0"/>
          </a:p>
          <a:p>
            <a:pPr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strike="noStrike" cap="none" spc="0"/>
              <a:t>тумба под телевизор</a:t>
            </a:r>
            <a:endParaRPr strike="noStrike" cap="none" spc="0"/>
          </a:p>
          <a:p>
            <a:pPr>
              <a:defRPr/>
            </a:pPr>
            <a:endParaRPr lang="ru-RU" sz="1400"/>
          </a:p>
          <a:p>
            <a:pPr marL="0" indent="0">
              <a:buNone/>
              <a:defRPr/>
            </a:pPr>
            <a:endParaRPr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1400"/>
              <a:t>В конце курса </a:t>
            </a:r>
            <a:r>
              <a:rPr lang="ru-RU" sz="1400" b="1"/>
              <a:t>должны быть представлены</a:t>
            </a:r>
            <a:r>
              <a:rPr lang="ru-RU" sz="1400"/>
              <a:t>: </a:t>
            </a:r>
            <a:endParaRPr lang="ru-RU" sz="1400"/>
          </a:p>
          <a:p>
            <a:pPr>
              <a:defRPr/>
            </a:pPr>
            <a:r>
              <a:rPr lang="ru-RU" sz="1400"/>
              <a:t>исходники 3D-моделей (до / </a:t>
            </a:r>
            <a:r>
              <a:rPr lang="ru-RU" sz="1400"/>
              <a:t>после)</a:t>
            </a:r>
            <a:endParaRPr/>
          </a:p>
          <a:p>
            <a:pPr>
              <a:defRPr/>
            </a:pPr>
            <a:r>
              <a:rPr lang="ru-RU" sz="1400"/>
              <a:t>текстуры</a:t>
            </a:r>
            <a:endParaRPr/>
          </a:p>
          <a:p>
            <a:pPr>
              <a:defRPr/>
            </a:pPr>
            <a:r>
              <a:rPr lang="ru-RU" sz="1400"/>
              <a:t>референсы</a:t>
            </a:r>
            <a:r>
              <a:rPr lang="ru-RU" sz="1400"/>
              <a:t> </a:t>
            </a:r>
            <a:r>
              <a:rPr lang="ru-RU" sz="1400"/>
              <a:t>и </a:t>
            </a:r>
            <a:r>
              <a:rPr lang="ru-RU" sz="1400"/>
              <a:t>рендеры</a:t>
            </a:r>
            <a:r>
              <a:rPr lang="ru-RU" sz="1400"/>
              <a:t> в виде презентации (.</a:t>
            </a:r>
            <a:r>
              <a:rPr lang="ru-RU" sz="1400"/>
              <a:t>pdf</a:t>
            </a:r>
            <a:r>
              <a:rPr lang="ru-RU" sz="1400"/>
              <a:t>)</a:t>
            </a:r>
            <a:endParaRPr lang="ru-RU" sz="1400"/>
          </a:p>
          <a:p>
            <a:pPr marL="0" indent="0">
              <a:buNone/>
              <a:defRPr/>
            </a:pPr>
            <a:endParaRPr lang="ru-RU" sz="1400" b="1"/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1400" b="1"/>
              <a:t>Важно!</a:t>
            </a:r>
            <a:endParaRPr/>
          </a:p>
          <a:p>
            <a:pPr marL="0" indent="0">
              <a:buNone/>
              <a:defRPr/>
            </a:pPr>
            <a:r>
              <a:rPr lang="ru-RU" sz="1400"/>
              <a:t>Уточнение задания и критериев (в формате выдачи </a:t>
            </a:r>
            <a:r>
              <a:rPr lang="ru-RU" sz="1400"/>
              <a:t>подзаданий</a:t>
            </a:r>
            <a:r>
              <a:rPr lang="ru-RU" sz="1400"/>
              <a:t> </a:t>
            </a:r>
            <a:r>
              <a:rPr lang="ru-RU" sz="1400"/>
              <a:t>и освоения новых тем) будет происходить </a:t>
            </a:r>
            <a:r>
              <a:rPr lang="ru-RU" sz="1400">
                <a:highlight>
                  <a:srgbClr val="D3D3D3"/>
                </a:highlight>
              </a:rPr>
              <a:t> в течение всего семестра.</a:t>
            </a:r>
            <a:r>
              <a:rPr lang="ru-RU" sz="1400"/>
              <a:t> </a:t>
            </a:r>
            <a:endParaRPr/>
          </a:p>
          <a:p>
            <a:pPr marL="0" indent="0">
              <a:buNone/>
              <a:defRPr/>
            </a:pPr>
            <a:endParaRPr lang="ru-RU" sz="1400" b="1"/>
          </a:p>
        </p:txBody>
      </p:sp>
      <p:sp>
        <p:nvSpPr>
          <p:cNvPr id="93019442" name=""/>
          <p:cNvSpPr/>
          <p:nvPr/>
        </p:nvSpPr>
        <p:spPr bwMode="auto">
          <a:xfrm flipH="0" flipV="0">
            <a:off x="688999" y="2063749"/>
            <a:ext cx="3206749" cy="2127249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679220" name=""/>
          <p:cNvSpPr/>
          <p:nvPr/>
        </p:nvSpPr>
        <p:spPr bwMode="auto">
          <a:xfrm flipH="0" flipV="0">
            <a:off x="4657749" y="2063749"/>
            <a:ext cx="4212166" cy="1063624"/>
          </a:xfrm>
          <a:prstGeom prst="rect">
            <a:avLst/>
          </a:prstGeom>
          <a:solidFill>
            <a:schemeClr val="bg1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022993" name="Объект 2"/>
          <p:cNvSpPr txBox="1"/>
          <p:nvPr/>
        </p:nvSpPr>
        <p:spPr bwMode="auto">
          <a:xfrm flipH="0" flipV="0">
            <a:off x="594783" y="2069562"/>
            <a:ext cx="8222216" cy="2745853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стены с дверью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кресло </a:t>
            </a:r>
            <a:r>
              <a:rPr lang="ru-RU" sz="1400" b="1" strike="noStrike" cap="none" spc="0"/>
              <a:t>и</a:t>
            </a:r>
            <a:r>
              <a:rPr lang="ru-RU" sz="1400" strike="noStrike" cap="none" spc="0"/>
              <a:t> диван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стол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телевизор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сейф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ключ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декор (вазы, книги, мини статуи)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светильники</a:t>
            </a:r>
            <a:endParaRPr strike="noStrike" cap="none" spc="0"/>
          </a:p>
          <a:p>
            <a:pPr marL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ru-RU" sz="1400" strike="noStrike" cap="none" spc="0"/>
              <a:t>тумба под телевизор</a:t>
            </a:r>
            <a:endParaRPr strike="noStrike" cap="none" spc="0"/>
          </a:p>
          <a:p>
            <a:pPr>
              <a:defRPr/>
            </a:pPr>
            <a:endParaRPr lang="ru-RU" sz="1400"/>
          </a:p>
          <a:p>
            <a:pPr marL="0" indent="0"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r>
              <a:rPr lang="ru-RU" sz="1400"/>
              <a:t>исходники 3D-моделей (до / </a:t>
            </a:r>
            <a:r>
              <a:rPr lang="ru-RU" sz="1400"/>
              <a:t>после)</a:t>
            </a:r>
            <a:endParaRPr lang="ru-RU" sz="1400"/>
          </a:p>
          <a:p>
            <a:pPr marL="0" indent="0">
              <a:buFont typeface="Arial"/>
              <a:buNone/>
              <a:defRPr/>
            </a:pPr>
            <a:r>
              <a:rPr lang="ru-RU" sz="1400"/>
              <a:t>текстуры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lang="ru-RU" sz="1400"/>
              <a:t>референсы</a:t>
            </a:r>
            <a:r>
              <a:rPr lang="ru-RU" sz="1400"/>
              <a:t> </a:t>
            </a:r>
            <a:r>
              <a:rPr lang="ru-RU" sz="1400"/>
              <a:t>и </a:t>
            </a:r>
            <a:r>
              <a:rPr lang="ru-RU" sz="1400"/>
              <a:t>рендеры</a:t>
            </a:r>
            <a:r>
              <a:rPr lang="ru-RU" sz="1400"/>
              <a:t> в виде презентации (.</a:t>
            </a:r>
            <a:r>
              <a:rPr lang="ru-RU" sz="1400"/>
              <a:t>pdf</a:t>
            </a:r>
            <a:r>
              <a:rPr lang="ru-RU" sz="1400"/>
              <a:t>)</a:t>
            </a:r>
            <a:endParaRPr lang="ru-RU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1858516"/>
            <a:ext cx="8229600" cy="857250"/>
          </a:xfrm>
        </p:spPr>
        <p:txBody>
          <a:bodyPr/>
          <a:lstStyle/>
          <a:p>
            <a:pPr>
              <a:defRPr/>
            </a:pPr>
            <a:r>
              <a:rPr lang="ru-RU"/>
              <a:t>Что такое</a:t>
            </a:r>
            <a:r>
              <a:rPr lang="ru-RU"/>
              <a:t> 3</a:t>
            </a:r>
            <a:r>
              <a:rPr lang="en-US"/>
              <a:t>D </a:t>
            </a:r>
            <a:r>
              <a:rPr lang="ru-RU"/>
              <a:t>моделирование?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105940"/>
            <a:ext cx="8229600" cy="857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Виды 3</a:t>
            </a:r>
            <a:r>
              <a:rPr lang="en-US" sz="3200"/>
              <a:t>D</a:t>
            </a:r>
            <a:r>
              <a:rPr lang="ru-RU" sz="3200"/>
              <a:t> моделирования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683568" y="1200150"/>
            <a:ext cx="2098576" cy="3394472"/>
          </a:xfrm>
        </p:spPr>
        <p:txBody>
          <a:bodyPr>
            <a:normAutofit/>
          </a:bodyPr>
          <a:lstStyle/>
          <a:p>
            <a:pPr marL="0" indent="0" algn="ctr">
              <a:lnSpc>
                <a:spcPts val="1979"/>
              </a:lnSpc>
              <a:buNone/>
              <a:defRPr/>
            </a:pPr>
            <a:r>
              <a:rPr lang="ru-RU" sz="2000"/>
              <a:t>Полигональное</a:t>
            </a:r>
            <a:br>
              <a:rPr lang="ru-RU" sz="2000"/>
            </a:br>
            <a:r>
              <a:rPr lang="ru-RU" sz="2000"/>
              <a:t>(поверхностное)</a:t>
            </a:r>
            <a:endParaRPr lang="ru-RU" sz="2000"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3533055" y="1200150"/>
            <a:ext cx="2098576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1979"/>
              </a:lnSpc>
              <a:buFont typeface="Arial"/>
              <a:buNone/>
              <a:defRPr/>
            </a:pPr>
            <a:r>
              <a:rPr lang="ru-RU" sz="2000"/>
              <a:t>Твердотельное</a:t>
            </a:r>
            <a:br>
              <a:rPr lang="ru-RU" sz="2000"/>
            </a:br>
            <a:r>
              <a:rPr lang="ru-RU" sz="2000"/>
              <a:t>(</a:t>
            </a:r>
            <a:r>
              <a:rPr lang="en-US" sz="2000"/>
              <a:t>Solid</a:t>
            </a:r>
            <a:r>
              <a:rPr lang="ru-RU" sz="2000"/>
              <a:t>/ САПР)</a:t>
            </a:r>
            <a:endParaRPr lang="ru-RU" sz="2000"/>
          </a:p>
        </p:txBody>
      </p:sp>
      <p:sp>
        <p:nvSpPr>
          <p:cNvPr id="6" name="Объект 2"/>
          <p:cNvSpPr txBox="1"/>
          <p:nvPr/>
        </p:nvSpPr>
        <p:spPr bwMode="auto">
          <a:xfrm>
            <a:off x="6382543" y="1169772"/>
            <a:ext cx="2098576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 lang="ru-RU" sz="2000"/>
              <a:t>(</a:t>
            </a:r>
            <a:r>
              <a:rPr lang="ru-RU" sz="2000"/>
              <a:t>Скульптинг</a:t>
            </a:r>
            <a:r>
              <a:rPr lang="ru-RU" sz="2000"/>
              <a:t>)</a:t>
            </a:r>
            <a:endParaRPr lang="ru-RU" sz="200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3312684" y="1853847"/>
            <a:ext cx="2771483" cy="2008835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8" name="Прямая со стрелкой 7"/>
          <p:cNvCxnSpPr>
            <a:cxnSpLocks/>
          </p:cNvCxnSpPr>
          <p:nvPr/>
        </p:nvCxnSpPr>
        <p:spPr bwMode="auto">
          <a:xfrm flipH="1" flipV="0">
            <a:off x="1979712" y="876299"/>
            <a:ext cx="296787" cy="218017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/>
          <p:cNvCxnSpPr>
            <a:cxnSpLocks/>
          </p:cNvCxnSpPr>
          <p:nvPr/>
        </p:nvCxnSpPr>
        <p:spPr bwMode="auto">
          <a:xfrm>
            <a:off x="4572000" y="843478"/>
            <a:ext cx="0" cy="30703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AutoShape 7" descr="https://3ddd.ru/ng-assets/images/preview-big-view.svg"/>
          <p:cNvSpPr>
            <a:spLocks noChangeArrowheads="1" noChangeAspect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6" name="AutoShape 9" descr="https://3ddd.ru/ng-assets/images/preview-big-view.svg"/>
          <p:cNvSpPr>
            <a:spLocks noChangeArrowheads="1" noChangeAspect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3090" name="Picture 18" descr="Picture background"/>
          <p:cNvPicPr>
            <a:picLocks noChangeAspect="1" noChangeArrowheads="1"/>
          </p:cNvPicPr>
          <p:nvPr/>
        </p:nvPicPr>
        <p:blipFill>
          <a:blip r:embed="rId4"/>
          <a:srcRect l="52083" t="0" r="0" b="0"/>
          <a:stretch/>
        </p:blipFill>
        <p:spPr bwMode="auto">
          <a:xfrm flipH="0" flipV="0">
            <a:off x="6793106" y="1672166"/>
            <a:ext cx="2052443" cy="3098005"/>
          </a:xfrm>
          <a:prstGeom prst="rect">
            <a:avLst/>
          </a:prstGeom>
          <a:noFill/>
        </p:spPr>
      </p:pic>
      <p:pic>
        <p:nvPicPr>
          <p:cNvPr id="3094" name="Picture 22" descr="Picture background"/>
          <p:cNvPicPr>
            <a:picLocks noChangeAspect="1" noChangeArrowheads="1"/>
          </p:cNvPicPr>
          <p:nvPr/>
        </p:nvPicPr>
        <p:blipFill>
          <a:blip r:embed="rId5"/>
          <a:stretch/>
        </p:blipFill>
        <p:spPr bwMode="auto">
          <a:xfrm>
            <a:off x="578828" y="1853847"/>
            <a:ext cx="2336987" cy="292123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62013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199" y="1866899"/>
            <a:ext cx="8229600" cy="272772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000"/>
              <a:t>Топология – это способ организации полигонального каркаса виртуальной модели, описывающий форму модели.</a:t>
            </a: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199" y="342899"/>
            <a:ext cx="8229600" cy="720328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ru-RU" sz="3200"/>
              <a:t>Полигональная сетка 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1028" name="Picture 4" descr="https://cgtyphoon.com/wp-content/uploads/2021/05/vertices-edges-faces-of-3d-object.jp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45680" y="1203598"/>
            <a:ext cx="2064229" cy="3096344"/>
          </a:xfrm>
          <a:prstGeom prst="rect">
            <a:avLst/>
          </a:prstGeom>
          <a:noFill/>
        </p:spPr>
      </p:pic>
      <p:pic>
        <p:nvPicPr>
          <p:cNvPr id="1030" name="Picture 6" descr="../../_images/mesh-structures-edge-and-face-loops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813168" y="1203598"/>
            <a:ext cx="5863288" cy="309634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794246" y="820315"/>
            <a:ext cx="7555506" cy="339407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9218" name="Picture 2" descr="&lt;p&gt; Случай 1: вертекс выделенного полигона уведен вниз, что делает его не планарным, ребро триангуляции в показанной ситуации делает его выпуклым, получается переход вниз от ребра. &lt;/p&gt;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411760" y="195487"/>
            <a:ext cx="4248472" cy="2228472"/>
          </a:xfrm>
          <a:prstGeom prst="rect">
            <a:avLst/>
          </a:prstGeom>
          <a:noFill/>
        </p:spPr>
      </p:pic>
      <p:pic>
        <p:nvPicPr>
          <p:cNvPr id="9220" name="Picture 4" descr="&lt;p&gt; Случай 2: вертекс также уведен вниз, но ребро триангуляции лежит по другой оси, это создает перегиб и полигон становится вогнутым. &lt;/p&gt;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2411760" y="2575526"/>
            <a:ext cx="4248472" cy="222847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724128" y="411510"/>
            <a:ext cx="1810544" cy="3394472"/>
          </a:xfrm>
        </p:spPr>
        <p:txBody>
          <a:bodyPr/>
          <a:lstStyle/>
          <a:p>
            <a:pPr marL="0" indent="0" algn="ctr">
              <a:buNone/>
              <a:defRPr/>
            </a:pPr>
            <a:r>
              <a:rPr lang="en-US" sz="2000"/>
              <a:t>Highpoly</a:t>
            </a:r>
            <a:endParaRPr lang="ru-RU"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3558716" y="411510"/>
            <a:ext cx="1810544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 lang="en-US" sz="2000"/>
              <a:t>Midpoly</a:t>
            </a:r>
            <a:endParaRPr lang="ru-RU"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1259632" y="407667"/>
            <a:ext cx="1810544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  <a:defRPr/>
            </a:pPr>
            <a:r>
              <a:rPr lang="en-US" sz="2000"/>
              <a:t>Lowpoly</a:t>
            </a:r>
            <a:endParaRPr lang="ru-RU"/>
          </a:p>
        </p:txBody>
      </p:sp>
      <p:pic>
        <p:nvPicPr>
          <p:cNvPr id="14340" name="Picture 4" descr="Picture background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755576" y="849362"/>
            <a:ext cx="7416824" cy="41706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2290" name="Picture 2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92871" y="233842"/>
            <a:ext cx="8758258" cy="46085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Достойны упоминания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7200" y="987574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000"/>
              <a:t>		  </a:t>
            </a:r>
            <a:r>
              <a:rPr lang="en-US" sz="2000"/>
              <a:t>Mesh</a:t>
            </a:r>
            <a:r>
              <a:rPr lang="ru-RU" sz="2000"/>
              <a:t>   </a:t>
            </a:r>
            <a:r>
              <a:rPr lang="ru-RU" sz="2000"/>
              <a:t>			             Объект </a:t>
            </a:r>
            <a:endParaRPr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 flipH="0" flipV="0">
            <a:off x="4836789" y="1434200"/>
            <a:ext cx="2876970" cy="299492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 flipH="0" flipV="0">
            <a:off x="1330498" y="1434201"/>
            <a:ext cx="2957612" cy="299492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Достойны упоминания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7200" y="987574"/>
            <a:ext cx="8229600" cy="339447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ru-RU" sz="2000"/>
              <a:t>	</a:t>
            </a:r>
            <a:r>
              <a:rPr lang="en-US" sz="2000"/>
              <a:t> </a:t>
            </a:r>
            <a:r>
              <a:rPr lang="en-US" sz="2000"/>
              <a:t>           Mesh</a:t>
            </a:r>
            <a:r>
              <a:rPr lang="ru-RU" sz="2000"/>
              <a:t>	</a:t>
            </a:r>
            <a:r>
              <a:rPr lang="ru-RU" sz="2000"/>
              <a:t>			</a:t>
            </a:r>
            <a:r>
              <a:rPr lang="en-US" sz="2000"/>
              <a:t>    </a:t>
            </a:r>
            <a:r>
              <a:rPr lang="ru-RU" sz="2000"/>
              <a:t>Объект </a:t>
            </a:r>
            <a:endParaRPr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 l="6223" t="0" r="3891" b="0"/>
          <a:stretch/>
        </p:blipFill>
        <p:spPr bwMode="auto">
          <a:xfrm>
            <a:off x="617416" y="1491630"/>
            <a:ext cx="3790461" cy="267545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4599172" y="1491630"/>
            <a:ext cx="4077284" cy="2678844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3200"/>
              <a:t>Достойны упоминания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57200" y="987574"/>
            <a:ext cx="8507288" cy="339447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000"/>
              <a:t>Normals</a:t>
            </a:r>
            <a:r>
              <a:rPr lang="ru-RU" sz="2000"/>
              <a:t>/нормали </a:t>
            </a:r>
            <a:r>
              <a:rPr lang="ru-RU" sz="2000"/>
              <a:t>— это</a:t>
            </a:r>
            <a:r>
              <a:rPr lang="ru-RU" sz="2000"/>
              <a:t> изображение ориентации </a:t>
            </a:r>
            <a:r>
              <a:rPr lang="ru-RU" sz="2000"/>
              <a:t>поверхности многоугольника</a:t>
            </a:r>
            <a:r>
              <a:rPr lang="ru-RU" sz="2000"/>
              <a:t>.</a:t>
            </a:r>
            <a:endParaRPr/>
          </a:p>
        </p:txBody>
      </p:sp>
      <p:pic>
        <p:nvPicPr>
          <p:cNvPr id="10242" name="Picture 2" descr="image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539552" y="1836316"/>
            <a:ext cx="2851993" cy="2851994"/>
          </a:xfrm>
          <a:prstGeom prst="rect">
            <a:avLst/>
          </a:prstGeom>
          <a:noFill/>
        </p:spPr>
      </p:pic>
      <p:pic>
        <p:nvPicPr>
          <p:cNvPr id="10244" name="Picture 4" descr="image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3304183" y="1836316"/>
            <a:ext cx="2851993" cy="285199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1851670"/>
            <a:ext cx="8229600" cy="8572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Методы полигонального моделирования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13691"/>
            <a:ext cx="8229600" cy="103286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Группировка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endParaRPr lang="ru-RU"/>
          </a:p>
        </p:txBody>
      </p:sp>
      <p:pic>
        <p:nvPicPr>
          <p:cNvPr id="18434" name="Picture 2" descr="D:\инуяша\bandicam-2024-09-06-17-43-11-431_PeVEFyS1.gif"/>
          <p:cNvPicPr>
            <a:picLocks noChangeAspect="1" noChangeArrowheads="1" noCrop="1"/>
          </p:cNvPicPr>
          <p:nvPr/>
        </p:nvPicPr>
        <p:blipFill>
          <a:blip r:embed="rId3"/>
          <a:stretch/>
        </p:blipFill>
        <p:spPr bwMode="auto">
          <a:xfrm>
            <a:off x="1691679" y="870493"/>
            <a:ext cx="5760640" cy="401583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«Из бокса»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9458" name="Picture 2" descr="D:\инуяша\bandicam-2024-09-06-17-51-14-129.gif"/>
          <p:cNvPicPr>
            <a:picLocks noChangeAspect="1" noChangeArrowheads="1" noCrop="1"/>
          </p:cNvPicPr>
          <p:nvPr/>
        </p:nvPicPr>
        <p:blipFill>
          <a:blip r:embed="rId3"/>
          <a:stretch/>
        </p:blipFill>
        <p:spPr bwMode="auto">
          <a:xfrm flipH="0" flipV="0">
            <a:off x="1702602" y="885722"/>
            <a:ext cx="5738794" cy="400060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/>
              <a:t>Poly by poly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20482" name="Picture 2" descr="D:\инуяша\bandicam-2024-09-06-18-07-41-613_EhG2LF08.gif"/>
          <p:cNvPicPr>
            <a:picLocks noChangeAspect="1" noChangeArrowheads="1" noCrop="1"/>
          </p:cNvPicPr>
          <p:nvPr/>
        </p:nvPicPr>
        <p:blipFill>
          <a:blip r:embed="rId3"/>
          <a:stretch/>
        </p:blipFill>
        <p:spPr bwMode="auto">
          <a:xfrm flipH="0" flipV="0">
            <a:off x="1602763" y="876299"/>
            <a:ext cx="5938471" cy="40118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Лофтинг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17410" name="Picture 2" descr="Picture background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71599" y="843559"/>
            <a:ext cx="7170207" cy="403324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Модификаторы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21506" name="Picture 2" descr="D:\инуяша\bandicam-2024-09-06-17-57-13-648.gif"/>
          <p:cNvPicPr>
            <a:picLocks noChangeAspect="1" noChangeArrowheads="1" noCrop="1"/>
          </p:cNvPicPr>
          <p:nvPr/>
        </p:nvPicPr>
        <p:blipFill>
          <a:blip r:embed="rId3"/>
          <a:stretch/>
        </p:blipFill>
        <p:spPr bwMode="auto">
          <a:xfrm>
            <a:off x="35496" y="843558"/>
            <a:ext cx="9069097" cy="403324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3200"/>
              <a:t>Тела</a:t>
            </a:r>
            <a:r>
              <a:rPr lang="ru-RU" sz="3200"/>
              <a:t> вращения</a:t>
            </a:r>
            <a:endParaRPr lang="ru-RU" sz="320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pic>
        <p:nvPicPr>
          <p:cNvPr id="22530" name="Picture 2" descr="D:\инуяша\bandicam-2024-09-06-17-47-57-732.gif"/>
          <p:cNvPicPr>
            <a:picLocks noChangeAspect="1" noChangeArrowheads="1" noCrop="1"/>
          </p:cNvPicPr>
          <p:nvPr/>
        </p:nvPicPr>
        <p:blipFill>
          <a:blip r:embed="rId3"/>
          <a:stretch/>
        </p:blipFill>
        <p:spPr bwMode="auto">
          <a:xfrm>
            <a:off x="1619672" y="853596"/>
            <a:ext cx="5771216" cy="402320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200" y="-20538"/>
            <a:ext cx="8229600" cy="1055587"/>
          </a:xfrm>
        </p:spPr>
        <p:txBody>
          <a:bodyPr/>
          <a:lstStyle/>
          <a:p>
            <a:pPr>
              <a:defRPr/>
            </a:pPr>
            <a:r>
              <a:rPr lang="ru-RU" sz="3200"/>
              <a:t>Пайплайн</a:t>
            </a:r>
            <a:endParaRPr lang="ru-RU"/>
          </a:p>
        </p:txBody>
      </p:sp>
      <p:pic>
        <p:nvPicPr>
          <p:cNvPr id="11268" name="Picture 4" descr="Picture background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43608" y="843558"/>
            <a:ext cx="7152929" cy="403324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57199" y="-19049"/>
            <a:ext cx="8229600" cy="1054099"/>
          </a:xfrm>
        </p:spPr>
        <p:txBody>
          <a:bodyPr/>
          <a:lstStyle/>
          <a:p>
            <a:pPr>
              <a:defRPr/>
            </a:pPr>
            <a:r>
              <a:rPr lang="ru-RU" sz="3200"/>
              <a:t>Пайплайн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57199" y="876299"/>
            <a:ext cx="8229600" cy="3553221"/>
          </a:xfrm>
        </p:spPr>
        <p:txBody>
          <a:bodyPr/>
          <a:lstStyle/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ru-RU" sz="2000" strike="noStrike" cap="none" spc="0"/>
              <a:t>Драфт</a:t>
            </a:r>
            <a:endParaRPr sz="2000"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en-US" sz="2000" strike="noStrike" cap="none" spc="0"/>
              <a:t>Highpoly</a:t>
            </a:r>
            <a:endParaRPr sz="2000"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en-US" sz="2000" strike="noStrike" cap="none" spc="0"/>
              <a:t>Lowpoly</a:t>
            </a:r>
            <a:endParaRPr sz="2000"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en-US" sz="2000" strike="noStrike" cap="none" spc="0"/>
              <a:t>UV </a:t>
            </a:r>
            <a:r>
              <a:rPr lang="ru-RU" sz="2000" strike="noStrike" cap="none" spc="0"/>
              <a:t>и </a:t>
            </a:r>
            <a:r>
              <a:rPr lang="ru-RU" sz="2000" strike="noStrike" cap="none" spc="0"/>
              <a:t>текстурирование</a:t>
            </a:r>
            <a:endParaRPr sz="2000"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en-US" sz="2000" strike="noStrike" cap="none" spc="0"/>
              <a:t>Rig </a:t>
            </a:r>
            <a:r>
              <a:rPr lang="ru-RU" sz="2000" strike="noStrike" cap="none" spc="0"/>
              <a:t>и анимация </a:t>
            </a:r>
            <a:endParaRPr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ru-RU" sz="2000" strike="noStrike" cap="none" spc="0"/>
              <a:t>Освещение</a:t>
            </a:r>
            <a:endParaRPr strike="noStrike" cap="none" spc="0"/>
          </a:p>
          <a:p>
            <a:pPr marL="305908" marR="0" indent="-305908" algn="l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+mj-lt"/>
              <a:buAutoNum type="arabicPeriod" startAt="1"/>
              <a:defRPr/>
            </a:pPr>
            <a:r>
              <a:rPr lang="ru-RU" sz="2000" strike="noStrike" cap="none" spc="0"/>
              <a:t>Рендер и финальная презентация(</a:t>
            </a:r>
            <a:r>
              <a:rPr lang="ru-RU" sz="2000" strike="noStrike" cap="none" spc="0"/>
              <a:t>композинг</a:t>
            </a:r>
            <a:r>
              <a:rPr lang="ru-RU" sz="2000" strike="noStrike" cap="none" spc="0"/>
              <a:t>)</a:t>
            </a:r>
            <a:endParaRPr sz="2000" strike="noStrike" cap="none" spc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Вводная лекция</dc:title>
  <dc:subject/>
  <dc:creator>VITA</dc:creator>
  <cp:keywords/>
  <dc:description/>
  <dc:identifier/>
  <dc:language/>
  <cp:lastModifiedBy>Вита Есман</cp:lastModifiedBy>
  <cp:revision>48</cp:revision>
  <dcterms:created xsi:type="dcterms:W3CDTF">2024-09-06T09:02:42Z</dcterms:created>
  <dcterms:modified xsi:type="dcterms:W3CDTF">2026-08-31T16:04:12Z</dcterms:modified>
  <cp:category/>
  <cp:contentStatus/>
  <cp:version/>
</cp:coreProperties>
</file>