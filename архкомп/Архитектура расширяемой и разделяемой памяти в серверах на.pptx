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1" r:id="rId6"/>
    <p:sldId id="262" r:id="rId7"/>
    <p:sldId id="268" r:id="rId8"/>
    <p:sldId id="269" r:id="rId9"/>
    <p:sldId id="264" r:id="rId10"/>
    <p:sldId id="265" r:id="rId11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014" autoAdjust="0"/>
    <p:restoredTop sz="94660"/>
  </p:normalViewPr>
  <p:slideViewPr>
    <p:cSldViewPr snapToGrid="0">
      <p:cViewPr varScale="1">
        <p:scale>
          <a:sx n="79" d="100"/>
          <a:sy n="79" d="100"/>
        </p:scale>
        <p:origin x="802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DA44417-D453-4F88-91AC-9B0AF4F4B52D}" type="datetimeFigureOut">
              <a:rPr lang="ru-RU" smtClean="0"/>
              <a:t>08.04.2026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EC618DA-B23B-4E31-8CB1-416AD8F4839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104666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216609C-FCBD-CD1E-203A-9F8A2E2F2F8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4A112D09-4C1A-B76B-8407-71770432084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85D2E5E7-0DBF-A34F-F0D8-1B73F952C9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2B8888-A934-492E-9DB9-2FB49844864B}" type="datetime1">
              <a:rPr lang="ru-RU" smtClean="0"/>
              <a:t>08.04.2026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6AD6403E-7F52-770A-F520-22E11F6295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C8FD72BD-6201-F721-6778-2825186FDD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79B98E-C81F-4A69-9D34-F897DB75CB3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527885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8748AD4-8278-B15C-5ACB-AE5A2CABE0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9829847-BCFB-57DE-84E1-04508E2705F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3360B661-1100-1670-F3DC-ADD411D519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FD86B7-7BDD-469E-ABB8-8E1C5B4BE044}" type="datetime1">
              <a:rPr lang="ru-RU" smtClean="0"/>
              <a:t>08.04.2026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204DEF73-DFCA-8A64-1B88-1BF85101E2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114C149F-E431-2701-A6D3-43F619EAE6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79B98E-C81F-4A69-9D34-F897DB75CB3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23673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AA4D17E-6D20-F8B3-58D6-96788BEAE0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EBE240D5-A0BC-B73E-06B0-BA907B00379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F4D136EF-8F96-8E68-03EB-89AFE56DF6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978FD6-780E-48DC-A650-7F80B131D7E3}" type="datetime1">
              <a:rPr lang="ru-RU" smtClean="0"/>
              <a:t>08.04.2026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13E2F943-E046-28B9-1A4D-E021A89783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47206CC6-2063-7652-03D1-74653EC53D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79B98E-C81F-4A69-9D34-F897DB75CB3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47782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8028FCD-5E09-0A4C-23EE-D0CA521F08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37D222B-F968-DF8C-B251-3427EDF3BF4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5D785493-7C11-35DF-9F4A-681AE866685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8ACECDE7-E9E7-89AE-1865-98A62D3D9D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FE5D80-7FCC-4C6E-BBEA-5DE361E8305C}" type="datetime1">
              <a:rPr lang="ru-RU" smtClean="0"/>
              <a:t>08.04.2026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3780452B-6897-07EA-3292-20C138F5C7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2576A57E-728E-C1A0-721A-E64E6A4A64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79B98E-C81F-4A69-9D34-F897DB75CB3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957660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F788CAD-F2CF-53D4-2A29-EB5D3CFF5F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D3BE4FDE-82B7-D3A6-41E3-961E70DE5D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8B1B544C-C435-E261-6DE1-980B9F0304E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BB64E68B-9FCB-5366-1D91-5C65ED4FE83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6AE582E0-28D4-1738-7F8C-3C9218DB7AB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4DFEF456-D701-78F6-FC0B-E19343E811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C23FF3-5518-4AB6-9442-B41DBBE9A6DA}" type="datetime1">
              <a:rPr lang="ru-RU" smtClean="0"/>
              <a:t>08.04.2026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D95C0C5F-72D1-EEBD-FF8A-5C14CB4DB4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B61CFDF3-9567-D6E5-565C-F811D0D502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79B98E-C81F-4A69-9D34-F897DB75CB3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367737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09FE30B-6142-F5C3-836E-2EA2F03C24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6CC506C1-B11D-9D77-F53D-0400B0B2A3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A1FC12-F5EC-444E-A5EA-36C913FF8B20}" type="datetime1">
              <a:rPr lang="ru-RU" smtClean="0"/>
              <a:t>08.04.2026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3D2DD74D-4B63-82D5-867D-E46C6E8FDC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2CAFBDED-55D1-27D9-D005-1FD513FDB0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79B98E-C81F-4A69-9D34-F897DB75CB3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780791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34729E4C-81B4-A384-7A35-B434344B00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A6CF97-D533-472E-8D91-5F633EF1FBE2}" type="datetime1">
              <a:rPr lang="ru-RU" smtClean="0"/>
              <a:t>08.04.2026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751BC424-EB0F-41E0-4FC2-A5A53FA3BE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9EA6B7BF-65A8-B5F9-7901-3421877B0B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79B98E-C81F-4A69-9D34-F897DB75CB3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947274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57E543C-1442-C633-15FF-B7EF2B7ABF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B1B6EF8-2F89-D26E-3E2D-12AA1D66B2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ED603E4C-4197-17CE-C57F-C6D87240898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8703C872-6204-A097-D4E4-04B7BB2132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9E81A5-20CC-4103-BDB1-734CCC4394FE}" type="datetime1">
              <a:rPr lang="ru-RU" smtClean="0"/>
              <a:t>08.04.2026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65E5AA39-57FA-582D-4BF2-259DF88D34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15F5014D-6FB2-A4E3-5FE0-83FC74B552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79B98E-C81F-4A69-9D34-F897DB75CB3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75970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7B79470-CB73-9CEC-25FE-0FE623EEDE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66547C9B-3A63-B06C-5FED-0F56AF2C4CD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22FB7D66-7FAE-7D91-765D-ED40CF81A5A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C3173E76-CF04-768F-D3D8-FDB1860A94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08E473-6E72-4AC4-A9A2-135411AFD4A9}" type="datetime1">
              <a:rPr lang="ru-RU" smtClean="0"/>
              <a:t>08.04.2026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677B96F0-7099-420C-F716-6C8D93ECD9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0ED0F014-BB27-8F66-D48E-46DDA80CE8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79B98E-C81F-4A69-9D34-F897DB75CB3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163452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0E611B6-F09D-3026-E93A-9505BFE86E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9AFDFF78-B0C7-26D8-F910-75F85781AF6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B45DDE38-FCCB-2088-96F1-8FCC6690EF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300FF7-5B3E-41AA-86BB-35907B066E9B}" type="datetime1">
              <a:rPr lang="ru-RU" smtClean="0"/>
              <a:t>08.04.2026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053C8E2F-BD37-FA8C-8711-3C0FB6410B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B8CA7A3F-C911-80EE-3348-329609E57B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79B98E-C81F-4A69-9D34-F897DB75CB3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72852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FC4CAF86-61E0-21BA-17CE-737B6ED5A50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4EB2F336-8120-37FB-EF86-36D097C79D1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4D0C6779-9CEC-8DFB-924A-FBFFECE875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80B5A7-D1FB-4266-B55B-F5E396F9F52C}" type="datetime1">
              <a:rPr lang="ru-RU" smtClean="0"/>
              <a:t>08.04.2026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DA315925-12B2-9E30-BB8A-876A72E00B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F13CDCFF-898F-B507-803B-043067CA70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79B98E-C81F-4A69-9D34-F897DB75CB3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747040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018CF48-C5A2-4A73-F080-501D0DF547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359F78B3-FC2D-E773-2F73-CD74741B125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999C3BA0-035B-29E9-95D3-E012859EAC6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005F419-C841-4BC5-BE37-BFC71EDBBDE4}" type="datetime1">
              <a:rPr lang="ru-RU" smtClean="0"/>
              <a:t>08.04.2026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23E479C2-1062-29D4-89F8-4FEFF2256E6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6FC02897-F8E8-F5A7-3550-69A2D6FCB28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879B98E-C81F-4A69-9D34-F897DB75CB3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917958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084D383-89F8-038D-CD23-8A96478B967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Архитектура расширяемой и разделяемой памяти в серверах на базе CXL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C5609F5B-2BD2-1530-798D-9E0D7C61942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319215"/>
            <a:ext cx="9144000" cy="1655762"/>
          </a:xfrm>
        </p:spPr>
        <p:txBody>
          <a:bodyPr/>
          <a:lstStyle/>
          <a:p>
            <a:pPr algn="r"/>
            <a:r>
              <a:rPr lang="ru-RU" dirty="0"/>
              <a:t>Подготовил: Немыкин Ярослав Алексеевич</a:t>
            </a:r>
          </a:p>
          <a:p>
            <a:pPr algn="r"/>
            <a:r>
              <a:rPr lang="ru-RU" dirty="0"/>
              <a:t>Преподаватель: Горбачев Ярослав Георгиевич</a:t>
            </a:r>
          </a:p>
        </p:txBody>
      </p:sp>
    </p:spTree>
    <p:extLst>
      <p:ext uri="{BB962C8B-B14F-4D97-AF65-F5344CB8AC3E}">
        <p14:creationId xmlns:p14="http://schemas.microsoft.com/office/powerpoint/2010/main" val="56225867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3C8BA31-4A86-364E-7D23-40EB4E764C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Новый подход к организации памяти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88C1DB0-AFEE-F62A-DD1F-2F5251D224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62016" y="2090319"/>
            <a:ext cx="10515600" cy="248168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2000" dirty="0"/>
              <a:t>Производительность процессоров растёт быстрее, чем пропускная способность памяти. Устройства простаивают в ожидании данных, а раздельная память CPU, GPU и других ускорителей требует постоянного копирования. Для решения этих проблем была разработана технология </a:t>
            </a:r>
            <a:r>
              <a:rPr lang="ru-RU" sz="2000" b="1" dirty="0" err="1"/>
              <a:t>Compute</a:t>
            </a:r>
            <a:r>
              <a:rPr lang="ru-RU" sz="2000" b="1" dirty="0"/>
              <a:t> Express Link (CXL)</a:t>
            </a:r>
            <a:r>
              <a:rPr lang="ru-RU" sz="2000" dirty="0"/>
              <a:t>.</a:t>
            </a:r>
          </a:p>
          <a:p>
            <a:pPr marL="0" indent="0">
              <a:buNone/>
            </a:pPr>
            <a:endParaRPr lang="ru-RU" sz="2000" dirty="0"/>
          </a:p>
        </p:txBody>
      </p:sp>
      <p:sp>
        <p:nvSpPr>
          <p:cNvPr id="4" name="Text 4">
            <a:extLst>
              <a:ext uri="{FF2B5EF4-FFF2-40B4-BE49-F238E27FC236}">
                <a16:creationId xmlns:a16="http://schemas.microsoft.com/office/drawing/2014/main" id="{7BE08439-E906-0410-1603-973E2FD0B004}"/>
              </a:ext>
            </a:extLst>
          </p:cNvPr>
          <p:cNvSpPr/>
          <p:nvPr/>
        </p:nvSpPr>
        <p:spPr>
          <a:xfrm>
            <a:off x="814384" y="3956351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000" b="1" dirty="0">
                <a:solidFill>
                  <a:srgbClr val="151617"/>
                </a:solidFill>
                <a:latin typeface="+mj-lt"/>
                <a:ea typeface="Montserrat Black" pitchFamily="34" charset="-122"/>
                <a:cs typeface="Montserrat Black" pitchFamily="34" charset="-120"/>
              </a:rPr>
              <a:t>Memory Wall</a:t>
            </a:r>
            <a:endParaRPr lang="en-US" sz="2000" dirty="0">
              <a:latin typeface="+mj-lt"/>
            </a:endParaRPr>
          </a:p>
        </p:txBody>
      </p:sp>
      <p:sp>
        <p:nvSpPr>
          <p:cNvPr id="5" name="Text 5">
            <a:extLst>
              <a:ext uri="{FF2B5EF4-FFF2-40B4-BE49-F238E27FC236}">
                <a16:creationId xmlns:a16="http://schemas.microsoft.com/office/drawing/2014/main" id="{651B917C-FBE1-272E-78D3-E5F43D8C5605}"/>
              </a:ext>
            </a:extLst>
          </p:cNvPr>
          <p:cNvSpPr/>
          <p:nvPr/>
        </p:nvSpPr>
        <p:spPr>
          <a:xfrm>
            <a:off x="814384" y="4446769"/>
            <a:ext cx="3308152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2000" dirty="0">
                <a:solidFill>
                  <a:srgbClr val="151617"/>
                </a:solidFill>
                <a:ea typeface="Inconsolata" pitchFamily="34" charset="-122"/>
                <a:cs typeface="Inconsolata" pitchFamily="34" charset="-120"/>
              </a:rPr>
              <a:t>Процессоры простаивают, ожидая данных из памяти</a:t>
            </a:r>
            <a:endParaRPr lang="en-US" sz="2000" dirty="0"/>
          </a:p>
        </p:txBody>
      </p:sp>
      <p:sp>
        <p:nvSpPr>
          <p:cNvPr id="6" name="Text 6">
            <a:extLst>
              <a:ext uri="{FF2B5EF4-FFF2-40B4-BE49-F238E27FC236}">
                <a16:creationId xmlns:a16="http://schemas.microsoft.com/office/drawing/2014/main" id="{42462D12-DA15-D4C6-D021-CD9D0548AD2D}"/>
              </a:ext>
            </a:extLst>
          </p:cNvPr>
          <p:cNvSpPr/>
          <p:nvPr/>
        </p:nvSpPr>
        <p:spPr>
          <a:xfrm>
            <a:off x="4713682" y="3956351"/>
            <a:ext cx="3106103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000" b="1" dirty="0">
                <a:solidFill>
                  <a:srgbClr val="151617"/>
                </a:solidFill>
                <a:latin typeface="+mj-lt"/>
                <a:ea typeface="Montserrat Black" pitchFamily="34" charset="-122"/>
                <a:cs typeface="Montserrat Black" pitchFamily="34" charset="-120"/>
              </a:rPr>
              <a:t>Раздельная память</a:t>
            </a:r>
            <a:endParaRPr lang="en-US" sz="2000" dirty="0">
              <a:latin typeface="+mj-lt"/>
            </a:endParaRPr>
          </a:p>
        </p:txBody>
      </p:sp>
      <p:sp>
        <p:nvSpPr>
          <p:cNvPr id="7" name="Text 7">
            <a:extLst>
              <a:ext uri="{FF2B5EF4-FFF2-40B4-BE49-F238E27FC236}">
                <a16:creationId xmlns:a16="http://schemas.microsoft.com/office/drawing/2014/main" id="{9C69C7E6-BFF5-6A2F-6631-173A5586D978}"/>
              </a:ext>
            </a:extLst>
          </p:cNvPr>
          <p:cNvSpPr/>
          <p:nvPr/>
        </p:nvSpPr>
        <p:spPr>
          <a:xfrm>
            <a:off x="4713682" y="4446769"/>
            <a:ext cx="3308152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2000" dirty="0">
                <a:solidFill>
                  <a:srgbClr val="151617"/>
                </a:solidFill>
                <a:ea typeface="Inconsolata" pitchFamily="34" charset="-122"/>
                <a:cs typeface="Inconsolata" pitchFamily="34" charset="-120"/>
              </a:rPr>
              <a:t>Постоянное копирование данных между CPU, GPU и другими устройствами</a:t>
            </a:r>
            <a:endParaRPr lang="en-US" sz="2000" dirty="0"/>
          </a:p>
        </p:txBody>
      </p:sp>
      <p:sp>
        <p:nvSpPr>
          <p:cNvPr id="8" name="Text 8">
            <a:extLst>
              <a:ext uri="{FF2B5EF4-FFF2-40B4-BE49-F238E27FC236}">
                <a16:creationId xmlns:a16="http://schemas.microsoft.com/office/drawing/2014/main" id="{8EEFA63F-11F8-ADCD-294D-4BD7474C4E9C}"/>
              </a:ext>
            </a:extLst>
          </p:cNvPr>
          <p:cNvSpPr/>
          <p:nvPr/>
        </p:nvSpPr>
        <p:spPr>
          <a:xfrm>
            <a:off x="8883848" y="395297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000" b="1" dirty="0">
                <a:solidFill>
                  <a:srgbClr val="151617"/>
                </a:solidFill>
                <a:latin typeface="+mj-lt"/>
                <a:ea typeface="Montserrat Black" pitchFamily="34" charset="-122"/>
                <a:cs typeface="Montserrat Black" pitchFamily="34" charset="-120"/>
              </a:rPr>
              <a:t>Дата-центры</a:t>
            </a:r>
            <a:endParaRPr lang="en-US" sz="2000" dirty="0">
              <a:latin typeface="+mj-lt"/>
            </a:endParaRPr>
          </a:p>
        </p:txBody>
      </p:sp>
      <p:sp>
        <p:nvSpPr>
          <p:cNvPr id="9" name="Text 9">
            <a:extLst>
              <a:ext uri="{FF2B5EF4-FFF2-40B4-BE49-F238E27FC236}">
                <a16:creationId xmlns:a16="http://schemas.microsoft.com/office/drawing/2014/main" id="{1DD62045-0468-9CF0-A6BA-40933D4CCDE4}"/>
              </a:ext>
            </a:extLst>
          </p:cNvPr>
          <p:cNvSpPr/>
          <p:nvPr/>
        </p:nvSpPr>
        <p:spPr>
          <a:xfrm>
            <a:off x="8883848" y="4443393"/>
            <a:ext cx="3308152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2000" dirty="0">
                <a:solidFill>
                  <a:srgbClr val="151617"/>
                </a:solidFill>
                <a:ea typeface="Inconsolata" pitchFamily="34" charset="-122"/>
                <a:cs typeface="Inconsolata" pitchFamily="34" charset="-120"/>
              </a:rPr>
              <a:t>Традиционные архитектуры не справляются с гибким управлением большими объёмами памяти</a:t>
            </a:r>
            <a:endParaRPr lang="en-US" sz="2000" dirty="0"/>
          </a:p>
        </p:txBody>
      </p:sp>
      <p:sp>
        <p:nvSpPr>
          <p:cNvPr id="11" name="Номер слайда 10">
            <a:extLst>
              <a:ext uri="{FF2B5EF4-FFF2-40B4-BE49-F238E27FC236}">
                <a16:creationId xmlns:a16="http://schemas.microsoft.com/office/drawing/2014/main" id="{54E9BF7D-7C61-EF3A-884F-A95ABD7027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79B98E-C81F-4A69-9D34-F897DB75CB3C}" type="slidenum">
              <a:rPr lang="ru-RU" smtClean="0"/>
              <a:t>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9201272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EF688BE-233B-371F-3E91-4AAAF2DB2E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Что такое </a:t>
            </a:r>
            <a:r>
              <a:rPr lang="en-US" dirty="0"/>
              <a:t>CXL?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DB2D509-9E3C-8EEC-E5F8-F10F357CC4B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6907306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151617"/>
                </a:solidFill>
                <a:ea typeface="Inconsolata" pitchFamily="34" charset="-122"/>
                <a:cs typeface="Inconsolata" pitchFamily="34" charset="-120"/>
              </a:rPr>
              <a:t>Compute Express Link (CXL)</a:t>
            </a:r>
            <a:r>
              <a:rPr lang="en-US" sz="2000" dirty="0">
                <a:solidFill>
                  <a:srgbClr val="151617"/>
                </a:solidFill>
                <a:ea typeface="Inconsolata" pitchFamily="34" charset="-122"/>
                <a:cs typeface="Inconsolata" pitchFamily="34" charset="-120"/>
              </a:rPr>
              <a:t> — </a:t>
            </a:r>
            <a:r>
              <a:rPr lang="en-US" sz="2000" dirty="0" err="1">
                <a:solidFill>
                  <a:srgbClr val="151617"/>
                </a:solidFill>
                <a:ea typeface="Inconsolata" pitchFamily="34" charset="-122"/>
                <a:cs typeface="Inconsolata" pitchFamily="34" charset="-120"/>
              </a:rPr>
              <a:t>открытый</a:t>
            </a:r>
            <a:r>
              <a:rPr lang="en-US" sz="2000" dirty="0">
                <a:solidFill>
                  <a:srgbClr val="151617"/>
                </a:solidFill>
                <a:ea typeface="Inconsolata" pitchFamily="34" charset="-122"/>
                <a:cs typeface="Inconsolata" pitchFamily="34" charset="-120"/>
              </a:rPr>
              <a:t> </a:t>
            </a:r>
            <a:r>
              <a:rPr lang="en-US" sz="2000" dirty="0" err="1">
                <a:solidFill>
                  <a:srgbClr val="151617"/>
                </a:solidFill>
                <a:ea typeface="Inconsolata" pitchFamily="34" charset="-122"/>
                <a:cs typeface="Inconsolata" pitchFamily="34" charset="-120"/>
              </a:rPr>
              <a:t>стандарт</a:t>
            </a:r>
            <a:r>
              <a:rPr lang="en-US" sz="2000" dirty="0">
                <a:solidFill>
                  <a:srgbClr val="151617"/>
                </a:solidFill>
                <a:ea typeface="Inconsolata" pitchFamily="34" charset="-122"/>
                <a:cs typeface="Inconsolata" pitchFamily="34" charset="-120"/>
              </a:rPr>
              <a:t> </a:t>
            </a:r>
            <a:r>
              <a:rPr lang="en-US" sz="2000" dirty="0" err="1">
                <a:solidFill>
                  <a:srgbClr val="151617"/>
                </a:solidFill>
                <a:ea typeface="Inconsolata" pitchFamily="34" charset="-122"/>
                <a:cs typeface="Inconsolata" pitchFamily="34" charset="-120"/>
              </a:rPr>
              <a:t>межсоединения</a:t>
            </a:r>
            <a:r>
              <a:rPr lang="en-US" sz="2000" dirty="0">
                <a:solidFill>
                  <a:srgbClr val="151617"/>
                </a:solidFill>
                <a:ea typeface="Inconsolata" pitchFamily="34" charset="-122"/>
                <a:cs typeface="Inconsolata" pitchFamily="34" charset="-120"/>
              </a:rPr>
              <a:t>, </a:t>
            </a:r>
            <a:r>
              <a:rPr lang="en-US" sz="2000" dirty="0" err="1">
                <a:solidFill>
                  <a:srgbClr val="151617"/>
                </a:solidFill>
                <a:ea typeface="Inconsolata" pitchFamily="34" charset="-122"/>
                <a:cs typeface="Inconsolata" pitchFamily="34" charset="-120"/>
              </a:rPr>
              <a:t>появившийся</a:t>
            </a:r>
            <a:r>
              <a:rPr lang="en-US" sz="2000" dirty="0">
                <a:solidFill>
                  <a:srgbClr val="151617"/>
                </a:solidFill>
                <a:ea typeface="Inconsolata" pitchFamily="34" charset="-122"/>
                <a:cs typeface="Inconsolata" pitchFamily="34" charset="-120"/>
              </a:rPr>
              <a:t> в 2019 </a:t>
            </a:r>
            <a:r>
              <a:rPr lang="en-US" sz="2000" dirty="0" err="1">
                <a:solidFill>
                  <a:srgbClr val="151617"/>
                </a:solidFill>
                <a:ea typeface="Inconsolata" pitchFamily="34" charset="-122"/>
                <a:cs typeface="Inconsolata" pitchFamily="34" charset="-120"/>
              </a:rPr>
              <a:t>году</a:t>
            </a:r>
            <a:r>
              <a:rPr lang="en-US" sz="2000" dirty="0">
                <a:solidFill>
                  <a:srgbClr val="151617"/>
                </a:solidFill>
                <a:ea typeface="Inconsolata" pitchFamily="34" charset="-122"/>
                <a:cs typeface="Inconsolata" pitchFamily="34" charset="-120"/>
              </a:rPr>
              <a:t> </a:t>
            </a:r>
            <a:r>
              <a:rPr lang="en-US" sz="2000" dirty="0" err="1">
                <a:solidFill>
                  <a:srgbClr val="151617"/>
                </a:solidFill>
                <a:ea typeface="Inconsolata" pitchFamily="34" charset="-122"/>
                <a:cs typeface="Inconsolata" pitchFamily="34" charset="-120"/>
              </a:rPr>
              <a:t>под</a:t>
            </a:r>
            <a:r>
              <a:rPr lang="en-US" sz="2000" dirty="0">
                <a:solidFill>
                  <a:srgbClr val="151617"/>
                </a:solidFill>
                <a:ea typeface="Inconsolata" pitchFamily="34" charset="-122"/>
                <a:cs typeface="Inconsolata" pitchFamily="34" charset="-120"/>
              </a:rPr>
              <a:t> </a:t>
            </a:r>
            <a:r>
              <a:rPr lang="en-US" sz="2000" dirty="0" err="1">
                <a:solidFill>
                  <a:srgbClr val="151617"/>
                </a:solidFill>
                <a:ea typeface="Inconsolata" pitchFamily="34" charset="-122"/>
                <a:cs typeface="Inconsolata" pitchFamily="34" charset="-120"/>
              </a:rPr>
              <a:t>руководством</a:t>
            </a:r>
            <a:r>
              <a:rPr lang="en-US" sz="2000" dirty="0">
                <a:solidFill>
                  <a:srgbClr val="151617"/>
                </a:solidFill>
                <a:ea typeface="Inconsolata" pitchFamily="34" charset="-122"/>
                <a:cs typeface="Inconsolata" pitchFamily="34" charset="-120"/>
              </a:rPr>
              <a:t> Intel. В </a:t>
            </a:r>
            <a:r>
              <a:rPr lang="en-US" sz="2000" dirty="0" err="1">
                <a:solidFill>
                  <a:srgbClr val="151617"/>
                </a:solidFill>
                <a:ea typeface="Inconsolata" pitchFamily="34" charset="-122"/>
                <a:cs typeface="Inconsolata" pitchFamily="34" charset="-120"/>
              </a:rPr>
              <a:t>консорциум</a:t>
            </a:r>
            <a:r>
              <a:rPr lang="en-US" sz="2000" dirty="0">
                <a:solidFill>
                  <a:srgbClr val="151617"/>
                </a:solidFill>
                <a:ea typeface="Inconsolata" pitchFamily="34" charset="-122"/>
                <a:cs typeface="Inconsolata" pitchFamily="34" charset="-120"/>
              </a:rPr>
              <a:t> </a:t>
            </a:r>
            <a:r>
              <a:rPr lang="en-US" sz="2000" dirty="0" err="1">
                <a:solidFill>
                  <a:srgbClr val="151617"/>
                </a:solidFill>
                <a:ea typeface="Inconsolata" pitchFamily="34" charset="-122"/>
                <a:cs typeface="Inconsolata" pitchFamily="34" charset="-120"/>
              </a:rPr>
              <a:t>вошли</a:t>
            </a:r>
            <a:r>
              <a:rPr lang="en-US" sz="2000" dirty="0">
                <a:solidFill>
                  <a:srgbClr val="151617"/>
                </a:solidFill>
                <a:ea typeface="Inconsolata" pitchFamily="34" charset="-122"/>
                <a:cs typeface="Inconsolata" pitchFamily="34" charset="-120"/>
              </a:rPr>
              <a:t> Alibaba, Cisco, Dell, Meta*, Google, HPE, Huawei и Microsoft.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151617"/>
                </a:solidFill>
                <a:ea typeface="Inconsolata" pitchFamily="34" charset="-122"/>
                <a:cs typeface="Inconsolata" pitchFamily="34" charset="-120"/>
              </a:rPr>
              <a:t>CXL </a:t>
            </a:r>
            <a:r>
              <a:rPr lang="en-US" sz="2000" dirty="0" err="1">
                <a:solidFill>
                  <a:srgbClr val="151617"/>
                </a:solidFill>
                <a:ea typeface="Inconsolata" pitchFamily="34" charset="-122"/>
                <a:cs typeface="Inconsolata" pitchFamily="34" charset="-120"/>
              </a:rPr>
              <a:t>основан</a:t>
            </a:r>
            <a:r>
              <a:rPr lang="en-US" sz="2000" dirty="0">
                <a:solidFill>
                  <a:srgbClr val="151617"/>
                </a:solidFill>
                <a:ea typeface="Inconsolata" pitchFamily="34" charset="-122"/>
                <a:cs typeface="Inconsolata" pitchFamily="34" charset="-120"/>
              </a:rPr>
              <a:t> </a:t>
            </a:r>
            <a:r>
              <a:rPr lang="en-US" sz="2000" dirty="0" err="1">
                <a:solidFill>
                  <a:srgbClr val="151617"/>
                </a:solidFill>
                <a:ea typeface="Inconsolata" pitchFamily="34" charset="-122"/>
                <a:cs typeface="Inconsolata" pitchFamily="34" charset="-120"/>
              </a:rPr>
              <a:t>на</a:t>
            </a:r>
            <a:r>
              <a:rPr lang="en-US" sz="2000" dirty="0">
                <a:solidFill>
                  <a:srgbClr val="151617"/>
                </a:solidFill>
                <a:ea typeface="Inconsolata" pitchFamily="34" charset="-122"/>
                <a:cs typeface="Inconsolata" pitchFamily="34" charset="-120"/>
              </a:rPr>
              <a:t> </a:t>
            </a:r>
            <a:r>
              <a:rPr lang="en-US" sz="2000" b="1" dirty="0">
                <a:solidFill>
                  <a:srgbClr val="151617"/>
                </a:solidFill>
                <a:ea typeface="Inconsolata" pitchFamily="34" charset="-122"/>
                <a:cs typeface="Inconsolata" pitchFamily="34" charset="-120"/>
              </a:rPr>
              <a:t>PCIe 5.0</a:t>
            </a:r>
            <a:r>
              <a:rPr lang="en-US" sz="2000" dirty="0">
                <a:solidFill>
                  <a:srgbClr val="151617"/>
                </a:solidFill>
                <a:ea typeface="Inconsolata" pitchFamily="34" charset="-122"/>
                <a:cs typeface="Inconsolata" pitchFamily="34" charset="-120"/>
              </a:rPr>
              <a:t>, </a:t>
            </a:r>
            <a:r>
              <a:rPr lang="en-US" sz="2000" dirty="0" err="1">
                <a:solidFill>
                  <a:srgbClr val="151617"/>
                </a:solidFill>
                <a:ea typeface="Inconsolata" pitchFamily="34" charset="-122"/>
                <a:cs typeface="Inconsolata" pitchFamily="34" charset="-120"/>
              </a:rPr>
              <a:t>унаследовав</a:t>
            </a:r>
            <a:r>
              <a:rPr lang="en-US" sz="2000" dirty="0">
                <a:solidFill>
                  <a:srgbClr val="151617"/>
                </a:solidFill>
                <a:ea typeface="Inconsolata" pitchFamily="34" charset="-122"/>
                <a:cs typeface="Inconsolata" pitchFamily="34" charset="-120"/>
              </a:rPr>
              <a:t> </a:t>
            </a:r>
            <a:r>
              <a:rPr lang="en-US" sz="2000" dirty="0" err="1">
                <a:solidFill>
                  <a:srgbClr val="151617"/>
                </a:solidFill>
                <a:ea typeface="Inconsolata" pitchFamily="34" charset="-122"/>
                <a:cs typeface="Inconsolata" pitchFamily="34" charset="-120"/>
              </a:rPr>
              <a:t>последовательный</a:t>
            </a:r>
            <a:r>
              <a:rPr lang="en-US" sz="2000" dirty="0">
                <a:solidFill>
                  <a:srgbClr val="151617"/>
                </a:solidFill>
                <a:ea typeface="Inconsolata" pitchFamily="34" charset="-122"/>
                <a:cs typeface="Inconsolata" pitchFamily="34" charset="-120"/>
              </a:rPr>
              <a:t> </a:t>
            </a:r>
            <a:r>
              <a:rPr lang="en-US" sz="2000" dirty="0" err="1">
                <a:solidFill>
                  <a:srgbClr val="151617"/>
                </a:solidFill>
                <a:ea typeface="Inconsolata" pitchFamily="34" charset="-122"/>
                <a:cs typeface="Inconsolata" pitchFamily="34" charset="-120"/>
              </a:rPr>
              <a:t>интерфейс</a:t>
            </a:r>
            <a:r>
              <a:rPr lang="en-US" sz="2000" dirty="0">
                <a:solidFill>
                  <a:srgbClr val="151617"/>
                </a:solidFill>
                <a:ea typeface="Inconsolata" pitchFamily="34" charset="-122"/>
                <a:cs typeface="Inconsolata" pitchFamily="34" charset="-120"/>
              </a:rPr>
              <a:t>, </a:t>
            </a:r>
            <a:r>
              <a:rPr lang="en-US" sz="2000" dirty="0" err="1">
                <a:solidFill>
                  <a:srgbClr val="151617"/>
                </a:solidFill>
                <a:ea typeface="Inconsolata" pitchFamily="34" charset="-122"/>
                <a:cs typeface="Inconsolata" pitchFamily="34" charset="-120"/>
              </a:rPr>
              <a:t>но</a:t>
            </a:r>
            <a:r>
              <a:rPr lang="en-US" sz="2000" dirty="0">
                <a:solidFill>
                  <a:srgbClr val="151617"/>
                </a:solidFill>
                <a:ea typeface="Inconsolata" pitchFamily="34" charset="-122"/>
                <a:cs typeface="Inconsolata" pitchFamily="34" charset="-120"/>
              </a:rPr>
              <a:t> </a:t>
            </a:r>
            <a:r>
              <a:rPr lang="en-US" sz="2000" dirty="0" err="1">
                <a:solidFill>
                  <a:srgbClr val="151617"/>
                </a:solidFill>
                <a:ea typeface="Inconsolata" pitchFamily="34" charset="-122"/>
                <a:cs typeface="Inconsolata" pitchFamily="34" charset="-120"/>
              </a:rPr>
              <a:t>добавив</a:t>
            </a:r>
            <a:r>
              <a:rPr lang="en-US" sz="2000" dirty="0">
                <a:solidFill>
                  <a:srgbClr val="151617"/>
                </a:solidFill>
                <a:ea typeface="Inconsolata" pitchFamily="34" charset="-122"/>
                <a:cs typeface="Inconsolata" pitchFamily="34" charset="-120"/>
              </a:rPr>
              <a:t> </a:t>
            </a:r>
            <a:r>
              <a:rPr lang="en-US" sz="2000" dirty="0" err="1">
                <a:solidFill>
                  <a:srgbClr val="151617"/>
                </a:solidFill>
                <a:ea typeface="Inconsolata" pitchFamily="34" charset="-122"/>
                <a:cs typeface="Inconsolata" pitchFamily="34" charset="-120"/>
              </a:rPr>
              <a:t>когерентные</a:t>
            </a:r>
            <a:r>
              <a:rPr lang="en-US" sz="2000" dirty="0">
                <a:solidFill>
                  <a:srgbClr val="151617"/>
                </a:solidFill>
                <a:ea typeface="Inconsolata" pitchFamily="34" charset="-122"/>
                <a:cs typeface="Inconsolata" pitchFamily="34" charset="-120"/>
              </a:rPr>
              <a:t> </a:t>
            </a:r>
            <a:r>
              <a:rPr lang="en-US" sz="2000" dirty="0" err="1">
                <a:solidFill>
                  <a:srgbClr val="151617"/>
                </a:solidFill>
                <a:ea typeface="Inconsolata" pitchFamily="34" charset="-122"/>
                <a:cs typeface="Inconsolata" pitchFamily="34" charset="-120"/>
              </a:rPr>
              <a:t>протоколы</a:t>
            </a:r>
            <a:r>
              <a:rPr lang="en-US" sz="2000" dirty="0">
                <a:solidFill>
                  <a:srgbClr val="151617"/>
                </a:solidFill>
                <a:ea typeface="Inconsolata" pitchFamily="34" charset="-122"/>
                <a:cs typeface="Inconsolata" pitchFamily="34" charset="-120"/>
              </a:rPr>
              <a:t>. В </a:t>
            </a:r>
            <a:r>
              <a:rPr lang="en-US" sz="2000" dirty="0" err="1">
                <a:solidFill>
                  <a:srgbClr val="151617"/>
                </a:solidFill>
                <a:ea typeface="Inconsolata" pitchFamily="34" charset="-122"/>
                <a:cs typeface="Inconsolata" pitchFamily="34" charset="-120"/>
              </a:rPr>
              <a:t>реальных</a:t>
            </a:r>
            <a:r>
              <a:rPr lang="en-US" sz="2000" dirty="0">
                <a:solidFill>
                  <a:srgbClr val="151617"/>
                </a:solidFill>
                <a:ea typeface="Inconsolata" pitchFamily="34" charset="-122"/>
                <a:cs typeface="Inconsolata" pitchFamily="34" charset="-120"/>
              </a:rPr>
              <a:t> </a:t>
            </a:r>
            <a:r>
              <a:rPr lang="en-US" sz="2000" dirty="0" err="1">
                <a:solidFill>
                  <a:srgbClr val="151617"/>
                </a:solidFill>
                <a:ea typeface="Inconsolata" pitchFamily="34" charset="-122"/>
                <a:cs typeface="Inconsolata" pitchFamily="34" charset="-120"/>
              </a:rPr>
              <a:t>ЦОДах</a:t>
            </a:r>
            <a:r>
              <a:rPr lang="en-US" sz="2000" dirty="0">
                <a:solidFill>
                  <a:srgbClr val="151617"/>
                </a:solidFill>
                <a:ea typeface="Inconsolata" pitchFamily="34" charset="-122"/>
                <a:cs typeface="Inconsolata" pitchFamily="34" charset="-120"/>
              </a:rPr>
              <a:t> CXL-</a:t>
            </a:r>
            <a:r>
              <a:rPr lang="en-US" sz="2000" dirty="0" err="1">
                <a:solidFill>
                  <a:srgbClr val="151617"/>
                </a:solidFill>
                <a:ea typeface="Inconsolata" pitchFamily="34" charset="-122"/>
                <a:cs typeface="Inconsolata" pitchFamily="34" charset="-120"/>
              </a:rPr>
              <a:t>память</a:t>
            </a:r>
            <a:r>
              <a:rPr lang="en-US" sz="2000" dirty="0">
                <a:solidFill>
                  <a:srgbClr val="151617"/>
                </a:solidFill>
                <a:ea typeface="Inconsolata" pitchFamily="34" charset="-122"/>
                <a:cs typeface="Inconsolata" pitchFamily="34" charset="-120"/>
              </a:rPr>
              <a:t> </a:t>
            </a:r>
            <a:r>
              <a:rPr lang="en-US" sz="2000" dirty="0" err="1">
                <a:solidFill>
                  <a:srgbClr val="151617"/>
                </a:solidFill>
                <a:ea typeface="Inconsolata" pitchFamily="34" charset="-122"/>
                <a:cs typeface="Inconsolata" pitchFamily="34" charset="-120"/>
              </a:rPr>
              <a:t>дополняет</a:t>
            </a:r>
            <a:r>
              <a:rPr lang="en-US" sz="2000" dirty="0">
                <a:solidFill>
                  <a:srgbClr val="151617"/>
                </a:solidFill>
                <a:ea typeface="Inconsolata" pitchFamily="34" charset="-122"/>
                <a:cs typeface="Inconsolata" pitchFamily="34" charset="-120"/>
              </a:rPr>
              <a:t> DRAM — </a:t>
            </a:r>
            <a:r>
              <a:rPr lang="en-US" sz="2000" dirty="0" err="1">
                <a:solidFill>
                  <a:srgbClr val="151617"/>
                </a:solidFill>
                <a:ea typeface="Inconsolata" pitchFamily="34" charset="-122"/>
                <a:cs typeface="Inconsolata" pitchFamily="34" charset="-120"/>
              </a:rPr>
              <a:t>как</a:t>
            </a:r>
            <a:r>
              <a:rPr lang="en-US" sz="2000" dirty="0">
                <a:solidFill>
                  <a:srgbClr val="151617"/>
                </a:solidFill>
                <a:ea typeface="Inconsolata" pitchFamily="34" charset="-122"/>
                <a:cs typeface="Inconsolata" pitchFamily="34" charset="-120"/>
              </a:rPr>
              <a:t> </a:t>
            </a:r>
            <a:r>
              <a:rPr lang="en-US" sz="2000" dirty="0" err="1">
                <a:solidFill>
                  <a:srgbClr val="151617"/>
                </a:solidFill>
                <a:ea typeface="Inconsolata" pitchFamily="34" charset="-122"/>
                <a:cs typeface="Inconsolata" pitchFamily="34" charset="-120"/>
              </a:rPr>
              <a:t>второй</a:t>
            </a:r>
            <a:r>
              <a:rPr lang="en-US" sz="2000" dirty="0">
                <a:solidFill>
                  <a:srgbClr val="151617"/>
                </a:solidFill>
                <a:ea typeface="Inconsolata" pitchFamily="34" charset="-122"/>
                <a:cs typeface="Inconsolata" pitchFamily="34" charset="-120"/>
              </a:rPr>
              <a:t> </a:t>
            </a:r>
            <a:r>
              <a:rPr lang="en-US" sz="2000" dirty="0" err="1">
                <a:solidFill>
                  <a:srgbClr val="151617"/>
                </a:solidFill>
                <a:ea typeface="Inconsolata" pitchFamily="34" charset="-122"/>
                <a:cs typeface="Inconsolata" pitchFamily="34" charset="-120"/>
              </a:rPr>
              <a:t>уровень</a:t>
            </a:r>
            <a:r>
              <a:rPr lang="en-US" sz="2000" dirty="0">
                <a:solidFill>
                  <a:srgbClr val="151617"/>
                </a:solidFill>
                <a:ea typeface="Inconsolata" pitchFamily="34" charset="-122"/>
                <a:cs typeface="Inconsolata" pitchFamily="34" charset="-120"/>
              </a:rPr>
              <a:t>.</a:t>
            </a:r>
            <a:endParaRPr lang="en-US" sz="2000" dirty="0"/>
          </a:p>
          <a:p>
            <a:pPr marL="0" indent="0">
              <a:buNone/>
            </a:pPr>
            <a:endParaRPr lang="ru-RU" sz="20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CDF4A14-6687-5D92-3E4A-F8BD062B2F95}"/>
              </a:ext>
            </a:extLst>
          </p:cNvPr>
          <p:cNvSpPr txBox="1"/>
          <p:nvPr/>
        </p:nvSpPr>
        <p:spPr>
          <a:xfrm>
            <a:off x="7745506" y="1470212"/>
            <a:ext cx="3854823" cy="46782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 err="1"/>
              <a:t>CXL.Io</a:t>
            </a:r>
            <a:endParaRPr lang="en-US" sz="2000" b="1" dirty="0"/>
          </a:p>
          <a:p>
            <a:pPr lvl="1"/>
            <a:r>
              <a:rPr lang="en-US" sz="2000" dirty="0" err="1">
                <a:solidFill>
                  <a:srgbClr val="151617"/>
                </a:solidFill>
                <a:ea typeface="Inconsolata" pitchFamily="34" charset="-122"/>
                <a:cs typeface="Inconsolata" pitchFamily="34" charset="-120"/>
              </a:rPr>
              <a:t>Базовый</a:t>
            </a:r>
            <a:r>
              <a:rPr lang="en-US" sz="2000" dirty="0">
                <a:solidFill>
                  <a:srgbClr val="151617"/>
                </a:solidFill>
                <a:ea typeface="Inconsolata" pitchFamily="34" charset="-122"/>
                <a:cs typeface="Inconsolata" pitchFamily="34" charset="-120"/>
              </a:rPr>
              <a:t> </a:t>
            </a:r>
            <a:r>
              <a:rPr lang="en-US" sz="2000" dirty="0" err="1">
                <a:solidFill>
                  <a:srgbClr val="151617"/>
                </a:solidFill>
                <a:ea typeface="Inconsolata" pitchFamily="34" charset="-122"/>
                <a:cs typeface="Inconsolata" pitchFamily="34" charset="-120"/>
              </a:rPr>
              <a:t>протокол</a:t>
            </a:r>
            <a:r>
              <a:rPr lang="en-US" sz="2000" dirty="0">
                <a:solidFill>
                  <a:srgbClr val="151617"/>
                </a:solidFill>
                <a:ea typeface="Inconsolata" pitchFamily="34" charset="-122"/>
                <a:cs typeface="Inconsolata" pitchFamily="34" charset="-120"/>
              </a:rPr>
              <a:t> </a:t>
            </a:r>
            <a:r>
              <a:rPr lang="en-US" sz="2000" dirty="0" err="1">
                <a:solidFill>
                  <a:srgbClr val="151617"/>
                </a:solidFill>
                <a:ea typeface="Inconsolata" pitchFamily="34" charset="-122"/>
                <a:cs typeface="Inconsolata" pitchFamily="34" charset="-120"/>
              </a:rPr>
              <a:t>на</a:t>
            </a:r>
            <a:r>
              <a:rPr lang="en-US" sz="2000" dirty="0">
                <a:solidFill>
                  <a:srgbClr val="151617"/>
                </a:solidFill>
                <a:ea typeface="Inconsolata" pitchFamily="34" charset="-122"/>
                <a:cs typeface="Inconsolata" pitchFamily="34" charset="-120"/>
              </a:rPr>
              <a:t> </a:t>
            </a:r>
            <a:r>
              <a:rPr lang="en-US" sz="2000" dirty="0" err="1">
                <a:solidFill>
                  <a:srgbClr val="151617"/>
                </a:solidFill>
                <a:ea typeface="Inconsolata" pitchFamily="34" charset="-122"/>
                <a:cs typeface="Inconsolata" pitchFamily="34" charset="-120"/>
              </a:rPr>
              <a:t>основе</a:t>
            </a:r>
            <a:r>
              <a:rPr lang="en-US" sz="2000" dirty="0">
                <a:solidFill>
                  <a:srgbClr val="151617"/>
                </a:solidFill>
                <a:ea typeface="Inconsolata" pitchFamily="34" charset="-122"/>
                <a:cs typeface="Inconsolata" pitchFamily="34" charset="-120"/>
              </a:rPr>
              <a:t> PCIe: </a:t>
            </a:r>
            <a:r>
              <a:rPr lang="en-US" sz="2000" dirty="0" err="1">
                <a:solidFill>
                  <a:srgbClr val="151617"/>
                </a:solidFill>
                <a:ea typeface="Inconsolata" pitchFamily="34" charset="-122"/>
                <a:cs typeface="Inconsolata" pitchFamily="34" charset="-120"/>
              </a:rPr>
              <a:t>инициализация</a:t>
            </a:r>
            <a:r>
              <a:rPr lang="en-US" sz="2000" dirty="0">
                <a:solidFill>
                  <a:srgbClr val="151617"/>
                </a:solidFill>
                <a:ea typeface="Inconsolata" pitchFamily="34" charset="-122"/>
                <a:cs typeface="Inconsolata" pitchFamily="34" charset="-120"/>
              </a:rPr>
              <a:t>, </a:t>
            </a:r>
            <a:r>
              <a:rPr lang="en-US" sz="2000" dirty="0" err="1">
                <a:solidFill>
                  <a:srgbClr val="151617"/>
                </a:solidFill>
                <a:ea typeface="Inconsolata" pitchFamily="34" charset="-122"/>
                <a:cs typeface="Inconsolata" pitchFamily="34" charset="-120"/>
              </a:rPr>
              <a:t>обнаружение</a:t>
            </a:r>
            <a:r>
              <a:rPr lang="en-US" sz="2000" dirty="0">
                <a:solidFill>
                  <a:srgbClr val="151617"/>
                </a:solidFill>
                <a:ea typeface="Inconsolata" pitchFamily="34" charset="-122"/>
                <a:cs typeface="Inconsolata" pitchFamily="34" charset="-120"/>
              </a:rPr>
              <a:t>, DMA и </a:t>
            </a:r>
            <a:r>
              <a:rPr lang="en-US" sz="2000" dirty="0" err="1">
                <a:solidFill>
                  <a:srgbClr val="151617"/>
                </a:solidFill>
                <a:ea typeface="Inconsolata" pitchFamily="34" charset="-122"/>
                <a:cs typeface="Inconsolata" pitchFamily="34" charset="-120"/>
              </a:rPr>
              <a:t>доступ</a:t>
            </a:r>
            <a:r>
              <a:rPr lang="en-US" sz="2000" dirty="0">
                <a:solidFill>
                  <a:srgbClr val="151617"/>
                </a:solidFill>
                <a:ea typeface="Inconsolata" pitchFamily="34" charset="-122"/>
                <a:cs typeface="Inconsolata" pitchFamily="34" charset="-120"/>
              </a:rPr>
              <a:t> к </a:t>
            </a:r>
            <a:r>
              <a:rPr lang="en-US" sz="2000" dirty="0" err="1">
                <a:solidFill>
                  <a:srgbClr val="151617"/>
                </a:solidFill>
                <a:ea typeface="Inconsolata" pitchFamily="34" charset="-122"/>
                <a:cs typeface="Inconsolata" pitchFamily="34" charset="-120"/>
              </a:rPr>
              <a:t>регистрам</a:t>
            </a:r>
            <a:endParaRPr lang="en-US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 err="1"/>
              <a:t>CXL.Cahe</a:t>
            </a:r>
            <a:endParaRPr lang="en-US" sz="2000" b="1" dirty="0"/>
          </a:p>
          <a:p>
            <a:pPr lvl="1"/>
            <a:r>
              <a:rPr lang="en-US" sz="2000" dirty="0" err="1">
                <a:solidFill>
                  <a:srgbClr val="151617"/>
                </a:solidFill>
                <a:ea typeface="Inconsolata" pitchFamily="34" charset="-122"/>
                <a:cs typeface="Inconsolata" pitchFamily="34" charset="-120"/>
              </a:rPr>
              <a:t>Когерентный</a:t>
            </a:r>
            <a:r>
              <a:rPr lang="en-US" sz="2000" dirty="0">
                <a:solidFill>
                  <a:srgbClr val="151617"/>
                </a:solidFill>
                <a:ea typeface="Inconsolata" pitchFamily="34" charset="-122"/>
                <a:cs typeface="Inconsolata" pitchFamily="34" charset="-120"/>
              </a:rPr>
              <a:t> </a:t>
            </a:r>
            <a:r>
              <a:rPr lang="en-US" sz="2000" dirty="0" err="1">
                <a:solidFill>
                  <a:srgbClr val="151617"/>
                </a:solidFill>
                <a:ea typeface="Inconsolata" pitchFamily="34" charset="-122"/>
                <a:cs typeface="Inconsolata" pitchFamily="34" charset="-120"/>
              </a:rPr>
              <a:t>доступ</a:t>
            </a:r>
            <a:r>
              <a:rPr lang="en-US" sz="2000" dirty="0">
                <a:solidFill>
                  <a:srgbClr val="151617"/>
                </a:solidFill>
                <a:ea typeface="Inconsolata" pitchFamily="34" charset="-122"/>
                <a:cs typeface="Inconsolata" pitchFamily="34" charset="-120"/>
              </a:rPr>
              <a:t> </a:t>
            </a:r>
            <a:r>
              <a:rPr lang="en-US" sz="2000" dirty="0" err="1">
                <a:solidFill>
                  <a:srgbClr val="151617"/>
                </a:solidFill>
                <a:ea typeface="Inconsolata" pitchFamily="34" charset="-122"/>
                <a:cs typeface="Inconsolata" pitchFamily="34" charset="-120"/>
              </a:rPr>
              <a:t>устройства</a:t>
            </a:r>
            <a:r>
              <a:rPr lang="en-US" sz="2000" dirty="0">
                <a:solidFill>
                  <a:srgbClr val="151617"/>
                </a:solidFill>
                <a:ea typeface="Inconsolata" pitchFamily="34" charset="-122"/>
                <a:cs typeface="Inconsolata" pitchFamily="34" charset="-120"/>
              </a:rPr>
              <a:t> к </a:t>
            </a:r>
            <a:r>
              <a:rPr lang="en-US" sz="2000" dirty="0" err="1">
                <a:solidFill>
                  <a:srgbClr val="151617"/>
                </a:solidFill>
                <a:ea typeface="Inconsolata" pitchFamily="34" charset="-122"/>
                <a:cs typeface="Inconsolata" pitchFamily="34" charset="-120"/>
              </a:rPr>
              <a:t>памяти</a:t>
            </a:r>
            <a:r>
              <a:rPr lang="en-US" sz="2000" dirty="0">
                <a:solidFill>
                  <a:srgbClr val="151617"/>
                </a:solidFill>
                <a:ea typeface="Inconsolata" pitchFamily="34" charset="-122"/>
                <a:cs typeface="Inconsolata" pitchFamily="34" charset="-120"/>
              </a:rPr>
              <a:t> CPU с </a:t>
            </a:r>
            <a:r>
              <a:rPr lang="en-US" sz="2000" dirty="0" err="1">
                <a:solidFill>
                  <a:srgbClr val="151617"/>
                </a:solidFill>
                <a:ea typeface="Inconsolata" pitchFamily="34" charset="-122"/>
                <a:cs typeface="Inconsolata" pitchFamily="34" charset="-120"/>
              </a:rPr>
              <a:t>низкой</a:t>
            </a:r>
            <a:r>
              <a:rPr lang="en-US" sz="2000" dirty="0">
                <a:solidFill>
                  <a:srgbClr val="151617"/>
                </a:solidFill>
                <a:ea typeface="Inconsolata" pitchFamily="34" charset="-122"/>
                <a:cs typeface="Inconsolata" pitchFamily="34" charset="-120"/>
              </a:rPr>
              <a:t> </a:t>
            </a:r>
            <a:r>
              <a:rPr lang="en-US" sz="2000" dirty="0" err="1">
                <a:solidFill>
                  <a:srgbClr val="151617"/>
                </a:solidFill>
                <a:ea typeface="Inconsolata" pitchFamily="34" charset="-122"/>
                <a:cs typeface="Inconsolata" pitchFamily="34" charset="-120"/>
              </a:rPr>
              <a:t>задержкой</a:t>
            </a:r>
            <a:endParaRPr lang="en-US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 err="1"/>
              <a:t>CXL.Mem</a:t>
            </a:r>
            <a:endParaRPr lang="en-US" sz="2000" b="1" dirty="0"/>
          </a:p>
          <a:p>
            <a:pPr lvl="1"/>
            <a:r>
              <a:rPr lang="en-US" sz="2000" dirty="0" err="1">
                <a:solidFill>
                  <a:srgbClr val="151617"/>
                </a:solidFill>
                <a:ea typeface="Inconsolata" pitchFamily="34" charset="-122"/>
                <a:cs typeface="Inconsolata" pitchFamily="34" charset="-120"/>
              </a:rPr>
              <a:t>Когерентный</a:t>
            </a:r>
            <a:r>
              <a:rPr lang="en-US" sz="2000" dirty="0">
                <a:solidFill>
                  <a:srgbClr val="151617"/>
                </a:solidFill>
                <a:ea typeface="Inconsolata" pitchFamily="34" charset="-122"/>
                <a:cs typeface="Inconsolata" pitchFamily="34" charset="-120"/>
              </a:rPr>
              <a:t> </a:t>
            </a:r>
            <a:r>
              <a:rPr lang="en-US" sz="2000" dirty="0" err="1">
                <a:solidFill>
                  <a:srgbClr val="151617"/>
                </a:solidFill>
                <a:ea typeface="Inconsolata" pitchFamily="34" charset="-122"/>
                <a:cs typeface="Inconsolata" pitchFamily="34" charset="-120"/>
              </a:rPr>
              <a:t>доступ</a:t>
            </a:r>
            <a:r>
              <a:rPr lang="en-US" sz="2000" dirty="0">
                <a:solidFill>
                  <a:srgbClr val="151617"/>
                </a:solidFill>
                <a:ea typeface="Inconsolata" pitchFamily="34" charset="-122"/>
                <a:cs typeface="Inconsolata" pitchFamily="34" charset="-120"/>
              </a:rPr>
              <a:t> CPU к </a:t>
            </a:r>
            <a:r>
              <a:rPr lang="en-US" sz="2000" dirty="0" err="1">
                <a:solidFill>
                  <a:srgbClr val="151617"/>
                </a:solidFill>
                <a:ea typeface="Inconsolata" pitchFamily="34" charset="-122"/>
                <a:cs typeface="Inconsolata" pitchFamily="34" charset="-120"/>
              </a:rPr>
              <a:t>памяти</a:t>
            </a:r>
            <a:r>
              <a:rPr lang="en-US" sz="2000" dirty="0">
                <a:solidFill>
                  <a:srgbClr val="151617"/>
                </a:solidFill>
                <a:ea typeface="Inconsolata" pitchFamily="34" charset="-122"/>
                <a:cs typeface="Inconsolata" pitchFamily="34" charset="-120"/>
              </a:rPr>
              <a:t> </a:t>
            </a:r>
            <a:r>
              <a:rPr lang="en-US" sz="2000" dirty="0" err="1">
                <a:solidFill>
                  <a:srgbClr val="151617"/>
                </a:solidFill>
                <a:ea typeface="Inconsolata" pitchFamily="34" charset="-122"/>
                <a:cs typeface="Inconsolata" pitchFamily="34" charset="-120"/>
              </a:rPr>
              <a:t>устройства</a:t>
            </a:r>
            <a:r>
              <a:rPr lang="en-US" sz="2000" dirty="0">
                <a:solidFill>
                  <a:srgbClr val="151617"/>
                </a:solidFill>
                <a:ea typeface="Inconsolata" pitchFamily="34" charset="-122"/>
                <a:cs typeface="Inconsolata" pitchFamily="34" charset="-120"/>
              </a:rPr>
              <a:t> — DRAM </a:t>
            </a:r>
            <a:r>
              <a:rPr lang="en-US" sz="2000" dirty="0" err="1">
                <a:solidFill>
                  <a:srgbClr val="151617"/>
                </a:solidFill>
                <a:ea typeface="Inconsolata" pitchFamily="34" charset="-122"/>
                <a:cs typeface="Inconsolata" pitchFamily="34" charset="-120"/>
              </a:rPr>
              <a:t>или</a:t>
            </a:r>
            <a:r>
              <a:rPr lang="en-US" sz="2000" dirty="0">
                <a:solidFill>
                  <a:srgbClr val="151617"/>
                </a:solidFill>
                <a:ea typeface="Inconsolata" pitchFamily="34" charset="-122"/>
                <a:cs typeface="Inconsolata" pitchFamily="34" charset="-120"/>
              </a:rPr>
              <a:t> </a:t>
            </a:r>
            <a:r>
              <a:rPr lang="en-US" sz="2000" dirty="0" err="1">
                <a:solidFill>
                  <a:srgbClr val="151617"/>
                </a:solidFill>
                <a:ea typeface="Inconsolata" pitchFamily="34" charset="-122"/>
                <a:cs typeface="Inconsolata" pitchFamily="34" charset="-120"/>
              </a:rPr>
              <a:t>флэш</a:t>
            </a:r>
            <a:endParaRPr lang="en-US" sz="2000" dirty="0"/>
          </a:p>
          <a:p>
            <a:endParaRPr lang="ru-RU" dirty="0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F4CB6B1D-A22A-9DC6-8947-CDEF2EBB2D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79B98E-C81F-4A69-9D34-F897DB75CB3C}" type="slidenum">
              <a:rPr lang="ru-RU" smtClean="0"/>
              <a:t>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7872924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0D44560-AA2F-2758-2E83-6FA58F97C5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Версии </a:t>
            </a:r>
            <a:r>
              <a:rPr lang="en-US" dirty="0"/>
              <a:t>CXL</a:t>
            </a:r>
            <a:endParaRPr lang="ru-RU" dirty="0"/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C7F02254-12D1-2337-F09A-3A7CE4B0CF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5929" y="1568675"/>
            <a:ext cx="10120142" cy="4699011"/>
          </a:xfrm>
          <a:prstGeom prst="rect">
            <a:avLst/>
          </a:prstGeom>
        </p:spPr>
      </p:pic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628B4043-0E95-5194-953A-4A47DE680C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79B98E-C81F-4A69-9D34-F897DB75CB3C}" type="slidenum">
              <a:rPr lang="ru-RU" smtClean="0"/>
              <a:t>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8875654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D4E176-1019-C018-725E-A7D03B6735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C9E97D8-B76D-4DE0-562B-25883424BB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Три типа </a:t>
            </a:r>
            <a:r>
              <a:rPr lang="en-US" dirty="0"/>
              <a:t>CXL-</a:t>
            </a:r>
            <a:r>
              <a:rPr lang="ru-RU" dirty="0"/>
              <a:t>устройств</a:t>
            </a: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D7B9214F-BE79-E156-0449-20549D75B15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659015" y="1541377"/>
            <a:ext cx="8873969" cy="4699011"/>
          </a:xfrm>
          <a:prstGeom prst="rect">
            <a:avLst/>
          </a:prstGeom>
        </p:spPr>
      </p:pic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BB57EB87-04AD-178A-BAA5-746E9BF23F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79B98E-C81F-4A69-9D34-F897DB75CB3C}" type="slidenum">
              <a:rPr lang="ru-RU" smtClean="0"/>
              <a:t>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4709614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058B180-300B-A720-14BF-2532A557C5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Memory </a:t>
            </a:r>
            <a:r>
              <a:rPr lang="ru-RU" b="1" dirty="0" err="1"/>
              <a:t>Expansion</a:t>
            </a:r>
            <a:endParaRPr lang="ru-RU" b="1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55C9D9A-7310-CBCE-6033-65B7C6A269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505849"/>
            <a:ext cx="4049564" cy="2537089"/>
          </a:xfrm>
        </p:spPr>
        <p:txBody>
          <a:bodyPr>
            <a:normAutofit/>
          </a:bodyPr>
          <a:lstStyle/>
          <a:p>
            <a:pPr marL="457200" lvl="1" indent="0">
              <a:buNone/>
            </a:pPr>
            <a:r>
              <a:rPr lang="ru-RU" sz="1900" dirty="0"/>
              <a:t>Добавление памяти через Type-3 устройство без замены CPU или материнской платы. Доступ прозрачен, но с чуть большей задержкой. Дешевле, чем апгрейд сервера.</a:t>
            </a:r>
          </a:p>
          <a:p>
            <a:endParaRPr lang="ru-RU" dirty="0"/>
          </a:p>
        </p:txBody>
      </p:sp>
      <p:pic>
        <p:nvPicPr>
          <p:cNvPr id="7" name="Picture 2" descr="Вычислительная нода, полностью состоящая из модулей оперативной памяти">
            <a:extLst>
              <a:ext uri="{FF2B5EF4-FFF2-40B4-BE49-F238E27FC236}">
                <a16:creationId xmlns:a16="http://schemas.microsoft.com/office/drawing/2014/main" id="{B645059B-F432-23E7-1A89-462E9BB4B4C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5658371" y="2068326"/>
            <a:ext cx="5386145" cy="29219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57A1770D-CCB1-E11E-1197-37FD955803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79B98E-C81F-4A69-9D34-F897DB75CB3C}" type="slidenum">
              <a:rPr lang="ru-RU" smtClean="0"/>
              <a:t>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9029181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1BB4353-BAF6-9578-D7E9-750165184E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Memory </a:t>
            </a:r>
            <a:r>
              <a:rPr lang="ru-RU" b="1" dirty="0" err="1"/>
              <a:t>Tiering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138270F-E0D2-33D1-B69B-8963BC2641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446551"/>
            <a:ext cx="3694329" cy="2391582"/>
          </a:xfrm>
        </p:spPr>
        <p:txBody>
          <a:bodyPr/>
          <a:lstStyle/>
          <a:p>
            <a:pPr marL="457200" lvl="1" indent="0">
              <a:buNone/>
            </a:pPr>
            <a:r>
              <a:rPr lang="ru-RU" sz="1900" dirty="0"/>
              <a:t>Разделение памяти на «горячие» и «холодные» страницы. Редко используемые данные уходят на более дешёвый уровень — освобождается до 40% основной DRAM.</a:t>
            </a:r>
          </a:p>
          <a:p>
            <a:endParaRPr lang="ru-RU" dirty="0"/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226F3445-FC23-B4E6-89D5-BF1BD1E7B9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06177" y="1994447"/>
            <a:ext cx="6511986" cy="3662992"/>
          </a:xfrm>
          <a:prstGeom prst="rect">
            <a:avLst/>
          </a:prstGeom>
        </p:spPr>
      </p:pic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8FAF1231-D0F5-B554-C472-F8F3EDD431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79B98E-C81F-4A69-9D34-F897DB75CB3C}" type="slidenum">
              <a:rPr lang="ru-RU" smtClean="0"/>
              <a:t>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5731479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43E4144-2B8F-B664-6B08-94CFE44A13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Memory </a:t>
            </a:r>
            <a:r>
              <a:rPr lang="ru-RU" b="1" dirty="0" err="1"/>
              <a:t>Pooling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5B3A858-E3DE-4924-E976-3C14D56E19D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23720" y="2740025"/>
            <a:ext cx="3819319" cy="2674012"/>
          </a:xfrm>
        </p:spPr>
        <p:txBody>
          <a:bodyPr/>
          <a:lstStyle/>
          <a:p>
            <a:pPr marL="457200" lvl="1" indent="0">
              <a:buNone/>
            </a:pPr>
            <a:r>
              <a:rPr lang="ru-RU" sz="1900" dirty="0"/>
              <a:t>Общий пул памяти через CXL-коммутатор. Динамическое перераспределение между хостами, изоляция доменов, поддержка MLD. Доступно с CXL 2.0.</a:t>
            </a:r>
          </a:p>
          <a:p>
            <a:endParaRPr lang="ru-RU" dirty="0"/>
          </a:p>
        </p:txBody>
      </p:sp>
      <p:pic>
        <p:nvPicPr>
          <p:cNvPr id="8" name="Picture 4">
            <a:extLst>
              <a:ext uri="{FF2B5EF4-FFF2-40B4-BE49-F238E27FC236}">
                <a16:creationId xmlns:a16="http://schemas.microsoft.com/office/drawing/2014/main" id="{7A45A03B-B040-D66F-A50F-D2567A0D7CB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5609872" y="2094983"/>
            <a:ext cx="5422961" cy="38096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51D13B55-9397-E3C9-BB01-E5443FF6FA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79B98E-C81F-4A69-9D34-F897DB75CB3C}" type="slidenum">
              <a:rPr lang="ru-RU" smtClean="0"/>
              <a:t>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9796430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1C2790B-6B8B-BE48-F733-ACF4CDAEEB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Архитектурные последствия </a:t>
            </a:r>
            <a:r>
              <a:rPr lang="en-US" dirty="0"/>
              <a:t>CXL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CFF4C53-C511-990F-8810-B4D579D98F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5951" y="1498805"/>
            <a:ext cx="11420097" cy="4348347"/>
          </a:xfrm>
        </p:spPr>
        <p:txBody>
          <a:bodyPr>
            <a:normAutofit/>
          </a:bodyPr>
          <a:lstStyle/>
          <a:p>
            <a:r>
              <a:rPr lang="ru-RU" sz="1800" b="1" dirty="0"/>
              <a:t>Когерентность кэшей</a:t>
            </a:r>
          </a:p>
          <a:p>
            <a:pPr marL="457200" lvl="1" indent="0">
              <a:buNone/>
            </a:pPr>
            <a:r>
              <a:rPr lang="ru-RU" sz="1800" dirty="0"/>
              <a:t>CXL формирует единое когерентное пространство: CPU и ускорители работают с одними данными, кэши синхронизируются автоматически. Процессор — управляющий узел.</a:t>
            </a:r>
          </a:p>
          <a:p>
            <a:r>
              <a:rPr lang="ru-RU" sz="1800" b="1" dirty="0"/>
              <a:t>NUMA-топология</a:t>
            </a:r>
          </a:p>
          <a:p>
            <a:pPr marL="457200" lvl="1" indent="0">
              <a:buNone/>
            </a:pPr>
            <a:r>
              <a:rPr lang="ru-RU" sz="1800" dirty="0"/>
              <a:t>CXL добавляет новый уровень памяти: локальная DRAM -</a:t>
            </a:r>
            <a:r>
              <a:rPr lang="en-US" sz="1800" dirty="0"/>
              <a:t>&gt;</a:t>
            </a:r>
            <a:r>
              <a:rPr lang="ru-RU" sz="1800" dirty="0"/>
              <a:t> удалённая NUMA </a:t>
            </a:r>
            <a:r>
              <a:rPr lang="en-US" sz="1800" dirty="0"/>
              <a:t>-&gt;</a:t>
            </a:r>
            <a:r>
              <a:rPr lang="ru-RU" sz="1800" dirty="0"/>
              <a:t> CXL-память. Растёт разброс задержек, усложняется размещение «горячих» данных.</a:t>
            </a:r>
          </a:p>
          <a:p>
            <a:pPr marL="0" indent="0">
              <a:buNone/>
            </a:pPr>
            <a:endParaRPr lang="ru-RU" sz="2000" dirty="0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2A4AB4D9-C5CF-281D-4365-A23A75C7C0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79B98E-C81F-4A69-9D34-F897DB75CB3C}" type="slidenum">
              <a:rPr lang="ru-RU" smtClean="0"/>
              <a:t>9</a:t>
            </a:fld>
            <a:endParaRPr lang="ru-RU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5B70B82-06C6-05B7-89C1-1AD58D781D3B}"/>
              </a:ext>
            </a:extLst>
          </p:cNvPr>
          <p:cNvSpPr txBox="1"/>
          <p:nvPr/>
        </p:nvSpPr>
        <p:spPr>
          <a:xfrm>
            <a:off x="351411" y="3494028"/>
            <a:ext cx="6097136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800" b="1" dirty="0"/>
              <a:t>Задержки доступа</a:t>
            </a:r>
          </a:p>
          <a:p>
            <a:pPr lvl="1"/>
            <a:r>
              <a:rPr lang="ru-RU" sz="1800" dirty="0"/>
              <a:t>CXL чуть медленнее локальной DDR, но несопоставимо быстрее SSD и RDMA. Режим </a:t>
            </a:r>
            <a:r>
              <a:rPr lang="ru-RU" sz="1800" b="1" dirty="0" err="1"/>
              <a:t>interleave</a:t>
            </a:r>
            <a:r>
              <a:rPr lang="ru-RU" sz="1800" dirty="0"/>
              <a:t> (</a:t>
            </a:r>
            <a:r>
              <a:rPr lang="ru-RU" sz="1800" dirty="0" err="1"/>
              <a:t>numactl</a:t>
            </a:r>
            <a:r>
              <a:rPr lang="ru-RU" sz="1800" dirty="0"/>
              <a:t>) даёт результаты, близкие к локальной RAM.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800" b="1" dirty="0"/>
              <a:t>RAS-механизмы</a:t>
            </a:r>
          </a:p>
          <a:p>
            <a:pPr lvl="1"/>
            <a:r>
              <a:rPr lang="ru-RU" sz="1800" dirty="0"/>
              <a:t>ECC, изоляция неисправных устройств, </a:t>
            </a:r>
            <a:r>
              <a:rPr lang="ru-RU" sz="1800" dirty="0" err="1"/>
              <a:t>hot-plug</a:t>
            </a:r>
            <a:r>
              <a:rPr lang="ru-RU" sz="1800" dirty="0"/>
              <a:t>, мониторинг. При отказе в </a:t>
            </a:r>
            <a:r>
              <a:rPr lang="ru-RU" sz="1800" dirty="0" err="1"/>
              <a:t>memory</a:t>
            </a:r>
            <a:r>
              <a:rPr lang="ru-RU" sz="1800" dirty="0"/>
              <a:t> </a:t>
            </a:r>
            <a:r>
              <a:rPr lang="ru-RU" sz="1800" dirty="0" err="1"/>
              <a:t>pool</a:t>
            </a:r>
            <a:r>
              <a:rPr lang="ru-RU" sz="1800" dirty="0"/>
              <a:t> нагрузка перераспределяется — система продолжает работу без остановки.</a:t>
            </a:r>
          </a:p>
        </p:txBody>
      </p:sp>
      <p:grpSp>
        <p:nvGrpSpPr>
          <p:cNvPr id="8" name="Группа 7">
            <a:extLst>
              <a:ext uri="{FF2B5EF4-FFF2-40B4-BE49-F238E27FC236}">
                <a16:creationId xmlns:a16="http://schemas.microsoft.com/office/drawing/2014/main" id="{0A8CCDAC-8327-D37A-640E-504D2E237BFF}"/>
              </a:ext>
            </a:extLst>
          </p:cNvPr>
          <p:cNvGrpSpPr/>
          <p:nvPr/>
        </p:nvGrpSpPr>
        <p:grpSpPr>
          <a:xfrm>
            <a:off x="7427537" y="3611692"/>
            <a:ext cx="3399520" cy="2626993"/>
            <a:chOff x="7526741" y="3581825"/>
            <a:chExt cx="2931498" cy="2265327"/>
          </a:xfrm>
        </p:grpSpPr>
        <p:pic>
          <p:nvPicPr>
            <p:cNvPr id="3074" name="Picture 2">
              <a:extLst>
                <a:ext uri="{FF2B5EF4-FFF2-40B4-BE49-F238E27FC236}">
                  <a16:creationId xmlns:a16="http://schemas.microsoft.com/office/drawing/2014/main" id="{1D28A9E8-3D22-B65B-C698-14D523F00C4A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0178"/>
            <a:stretch>
              <a:fillRect/>
            </a:stretch>
          </p:blipFill>
          <p:spPr bwMode="auto">
            <a:xfrm>
              <a:off x="7526741" y="3581825"/>
              <a:ext cx="2931498" cy="226532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7" name="Picture 2">
              <a:extLst>
                <a:ext uri="{FF2B5EF4-FFF2-40B4-BE49-F238E27FC236}">
                  <a16:creationId xmlns:a16="http://schemas.microsoft.com/office/drawing/2014/main" id="{4294578D-8AFD-6DC1-427B-08439A58EF79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55992" b="79066"/>
            <a:stretch>
              <a:fillRect/>
            </a:stretch>
          </p:blipFill>
          <p:spPr bwMode="auto">
            <a:xfrm>
              <a:off x="7526741" y="3581825"/>
              <a:ext cx="2931498" cy="47421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173744537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D5F75EE-9682-0072-4401-6AF83E83AE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Применение </a:t>
            </a:r>
            <a:r>
              <a:rPr lang="en-US" dirty="0"/>
              <a:t>CXL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E7CBC75-4501-F730-561F-B0F7BE7E4BF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9317" y="1690688"/>
            <a:ext cx="5207365" cy="4591700"/>
          </a:xfrm>
        </p:spPr>
        <p:txBody>
          <a:bodyPr>
            <a:noAutofit/>
          </a:bodyPr>
          <a:lstStyle/>
          <a:p>
            <a:r>
              <a:rPr lang="ru-RU" sz="2000" b="1" dirty="0"/>
              <a:t>Облака и ЦОД</a:t>
            </a:r>
          </a:p>
          <a:p>
            <a:pPr marL="457200" lvl="1" indent="0">
              <a:buNone/>
            </a:pPr>
            <a:r>
              <a:rPr lang="ru-RU" sz="1800" dirty="0" err="1"/>
              <a:t>Disaggregated</a:t>
            </a:r>
            <a:r>
              <a:rPr lang="ru-RU" sz="1800" dirty="0"/>
              <a:t> </a:t>
            </a:r>
            <a:r>
              <a:rPr lang="ru-RU" sz="1800" dirty="0" err="1"/>
              <a:t>memory</a:t>
            </a:r>
            <a:r>
              <a:rPr lang="ru-RU" sz="1800" dirty="0"/>
              <a:t> (разделение памяти и вычислений) </a:t>
            </a:r>
          </a:p>
          <a:p>
            <a:pPr marL="457200" lvl="1" indent="0">
              <a:buNone/>
            </a:pPr>
            <a:r>
              <a:rPr lang="ru-RU" sz="1800" dirty="0"/>
              <a:t>Динамическое перераспределение памяти между задачами </a:t>
            </a:r>
          </a:p>
          <a:p>
            <a:pPr marL="457200" lvl="1" indent="0">
              <a:buNone/>
            </a:pPr>
            <a:r>
              <a:rPr lang="ru-RU" sz="1800" dirty="0"/>
              <a:t>Снижение стоимости инфраструктуры за счёт </a:t>
            </a:r>
            <a:r>
              <a:rPr lang="ru-RU" sz="1800" dirty="0" err="1"/>
              <a:t>shared</a:t>
            </a:r>
            <a:r>
              <a:rPr lang="ru-RU" sz="1800" dirty="0"/>
              <a:t>-ресурсов </a:t>
            </a:r>
          </a:p>
          <a:p>
            <a:r>
              <a:rPr lang="ru-RU" sz="2000" b="1" dirty="0"/>
              <a:t>AI / ML</a:t>
            </a:r>
          </a:p>
          <a:p>
            <a:pPr marL="457200" lvl="1" indent="0">
              <a:buNone/>
            </a:pPr>
            <a:r>
              <a:rPr lang="ru-RU" sz="1800" dirty="0"/>
              <a:t>Когерентное пространство CPU </a:t>
            </a:r>
            <a:r>
              <a:rPr lang="en-US" sz="1800" dirty="0"/>
              <a:t>&lt;-&gt;</a:t>
            </a:r>
            <a:r>
              <a:rPr lang="ru-RU" sz="1800" dirty="0"/>
              <a:t> GPU </a:t>
            </a:r>
          </a:p>
          <a:p>
            <a:pPr marL="457200" lvl="1" indent="0">
              <a:buNone/>
            </a:pPr>
            <a:r>
              <a:rPr lang="ru-RU" sz="1800" dirty="0"/>
              <a:t>Меньше копирований данных, ниже задержки </a:t>
            </a:r>
          </a:p>
          <a:p>
            <a:pPr marL="457200" lvl="1" indent="0">
              <a:buNone/>
            </a:pPr>
            <a:r>
              <a:rPr lang="ru-RU" sz="1800" dirty="0"/>
              <a:t>Возможность работать с большими моделями (больше памяти) </a:t>
            </a:r>
          </a:p>
          <a:p>
            <a:pPr lvl="1"/>
            <a:endParaRPr lang="ru-RU" sz="2000" dirty="0"/>
          </a:p>
        </p:txBody>
      </p:sp>
      <p:sp>
        <p:nvSpPr>
          <p:cNvPr id="8" name="Объект 2">
            <a:extLst>
              <a:ext uri="{FF2B5EF4-FFF2-40B4-BE49-F238E27FC236}">
                <a16:creationId xmlns:a16="http://schemas.microsoft.com/office/drawing/2014/main" id="{6390711B-FA57-0D37-D258-B83B869FBE2A}"/>
              </a:ext>
            </a:extLst>
          </p:cNvPr>
          <p:cNvSpPr txBox="1">
            <a:spLocks/>
          </p:cNvSpPr>
          <p:nvPr/>
        </p:nvSpPr>
        <p:spPr>
          <a:xfrm>
            <a:off x="6146435" y="1690688"/>
            <a:ext cx="5207365" cy="45917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2000" b="1" dirty="0"/>
              <a:t>In-</a:t>
            </a:r>
            <a:r>
              <a:rPr lang="ru-RU" sz="2000" b="1" dirty="0" err="1"/>
              <a:t>memory</a:t>
            </a:r>
            <a:r>
              <a:rPr lang="ru-RU" sz="2000" b="1" dirty="0"/>
              <a:t> базы данных и аналитика</a:t>
            </a:r>
          </a:p>
          <a:p>
            <a:pPr marL="457200" lvl="1" indent="0">
              <a:buNone/>
            </a:pPr>
            <a:r>
              <a:rPr lang="ru-RU" sz="1800" dirty="0"/>
              <a:t>Увеличение доступной памяти без замены серверов </a:t>
            </a:r>
          </a:p>
          <a:p>
            <a:pPr marL="457200" lvl="1" indent="0">
              <a:buNone/>
            </a:pPr>
            <a:r>
              <a:rPr lang="ru-RU" sz="1800" dirty="0"/>
              <a:t>Снижение затрат по сравнению с дорогой DRAM </a:t>
            </a:r>
          </a:p>
          <a:p>
            <a:pPr marL="457200" lvl="1" indent="0">
              <a:buNone/>
            </a:pPr>
            <a:r>
              <a:rPr lang="ru-RU" sz="1800" dirty="0"/>
              <a:t>Поддержка больших </a:t>
            </a:r>
            <a:r>
              <a:rPr lang="ru-RU" sz="1800" dirty="0" err="1"/>
              <a:t>dataset’ов</a:t>
            </a:r>
            <a:r>
              <a:rPr lang="ru-RU" sz="1800" dirty="0"/>
              <a:t> в памяти </a:t>
            </a:r>
            <a:br>
              <a:rPr lang="ru-RU" sz="2000" dirty="0"/>
            </a:br>
            <a:endParaRPr lang="ru-RU" sz="2000" dirty="0"/>
          </a:p>
          <a:p>
            <a:r>
              <a:rPr lang="ru-RU" sz="2000" b="1" dirty="0"/>
              <a:t>Виртуализация и контейнеризация</a:t>
            </a:r>
          </a:p>
          <a:p>
            <a:pPr marL="457200" lvl="1" indent="0">
              <a:buNone/>
            </a:pPr>
            <a:r>
              <a:rPr lang="ru-RU" sz="1800" dirty="0"/>
              <a:t>Динамическое распределение ресурсов </a:t>
            </a:r>
          </a:p>
          <a:p>
            <a:pPr marL="457200" lvl="1" indent="0">
              <a:buNone/>
            </a:pPr>
            <a:r>
              <a:rPr lang="ru-RU" sz="1800" dirty="0"/>
              <a:t>Более плотное размещение задач (</a:t>
            </a:r>
            <a:r>
              <a:rPr lang="ru-RU" sz="1800" dirty="0" err="1"/>
              <a:t>workloads</a:t>
            </a:r>
            <a:r>
              <a:rPr lang="ru-RU" sz="1800" dirty="0"/>
              <a:t>) </a:t>
            </a:r>
          </a:p>
          <a:p>
            <a:pPr marL="457200" lvl="1" indent="0">
              <a:buNone/>
            </a:pPr>
            <a:r>
              <a:rPr lang="ru-RU" sz="1800" dirty="0"/>
              <a:t>Повышение утилизации серверов</a:t>
            </a:r>
          </a:p>
          <a:p>
            <a:pPr marL="457200" lvl="1" indent="0">
              <a:buNone/>
            </a:pPr>
            <a:endParaRPr lang="ru-RU" sz="2000" dirty="0"/>
          </a:p>
        </p:txBody>
      </p:sp>
      <p:sp>
        <p:nvSpPr>
          <p:cNvPr id="10" name="Номер слайда 9">
            <a:extLst>
              <a:ext uri="{FF2B5EF4-FFF2-40B4-BE49-F238E27FC236}">
                <a16:creationId xmlns:a16="http://schemas.microsoft.com/office/drawing/2014/main" id="{8DDDB616-188D-FB96-D50B-1B6675F8D1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79B98E-C81F-4A69-9D34-F897DB75CB3C}" type="slidenum">
              <a:rPr lang="ru-RU" smtClean="0"/>
              <a:t>10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04881257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906</TotalTime>
  <Words>503</Words>
  <Application>Microsoft Office PowerPoint</Application>
  <PresentationFormat>Широкоэкранный</PresentationFormat>
  <Paragraphs>63</Paragraphs>
  <Slides>10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10</vt:i4>
      </vt:variant>
    </vt:vector>
  </HeadingPairs>
  <TitlesOfParts>
    <vt:vector size="15" baseType="lpstr">
      <vt:lpstr>Aptos</vt:lpstr>
      <vt:lpstr>Aptos Display</vt:lpstr>
      <vt:lpstr>Arial</vt:lpstr>
      <vt:lpstr>Inconsolata</vt:lpstr>
      <vt:lpstr>Тема Office</vt:lpstr>
      <vt:lpstr>Архитектура расширяемой и разделяемой памяти в серверах на базе CXL</vt:lpstr>
      <vt:lpstr>Новый подход к организации памяти</vt:lpstr>
      <vt:lpstr>Что такое CXL?</vt:lpstr>
      <vt:lpstr>Версии CXL</vt:lpstr>
      <vt:lpstr>Три типа CXL-устройств</vt:lpstr>
      <vt:lpstr>Memory Expansion</vt:lpstr>
      <vt:lpstr>Memory Tiering</vt:lpstr>
      <vt:lpstr>Memory Pooling</vt:lpstr>
      <vt:lpstr>Архитектурные последствия CXL</vt:lpstr>
      <vt:lpstr>Применение CXL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Ярослав Немыкин</dc:creator>
  <cp:lastModifiedBy>Ярослав Немыкин</cp:lastModifiedBy>
  <cp:revision>2</cp:revision>
  <dcterms:created xsi:type="dcterms:W3CDTF">2026-04-07T19:43:57Z</dcterms:created>
  <dcterms:modified xsi:type="dcterms:W3CDTF">2026-04-08T20:38:23Z</dcterms:modified>
</cp:coreProperties>
</file>